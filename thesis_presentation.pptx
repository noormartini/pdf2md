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everyone, thanks for joining. I recently finished my bachelor thesis and [boss] suggested I give you a short tour of it.</a:t>
            </a:r>
          </a:p>
          <a:p/>
          <a:p>
            <a:r>
              <a:t>One sentence version: I built a system that converts PDF documents into clean, structured text that AI systems can actually work with — and it decides page by page how to do that best.</a:t>
            </a:r>
          </a:p>
          <a:p/>
          <a:p>
            <a:r>
              <a:t>Don't worry if you're not deep into AI — the first half needs no technical background at all, and I'll flag when it gets nerdy.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Everyone knows PDFs — they look identical everywhere, which is exactly why the format wins. But that reliability comes from storing the document as, essentially, a picture: each letter is placed at an x/y coordinate, and that's it.</a:t>
            </a:r>
          </a:p>
          <a:p/>
          <a:p>
            <a:r>
              <a:t>The box on the right is not a joke — that is genuinely what's inside the file. The word 'Table' exists only in our heads.</a:t>
            </a:r>
          </a:p>
          <a:p/>
          <a:p>
            <a:r>
              <a:t>Why care now? Because everyone is building AI assistants and search on top of their document archives. Those systems are only as good as the text you feed them. If your extraction turns a table into word soup, no AI model downstream can fix that.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do we convert PDFs into? Markdown.</a:t>
            </a:r>
          </a:p>
          <a:p/>
          <a:p>
            <a:r>
              <a:t>For the non-technical folks: Markdown is just normal text with a few extra characters that mark structure. A hash sign means 'this is a heading'. A dash means 'this is a list item'. You can read it as-is — see the example.</a:t>
            </a:r>
          </a:p>
          <a:p/>
          <a:p>
            <a:r>
              <a:t>The key point: unlike a PDF, the structure is explicit. A machine reading this knows exactly what's a heading, what's a table, what's body text. That's why practically every AI document pipeline speaks Markdown internally.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actual idea of the thesis, and it fits in one sentence: don't treat every page the same.</a:t>
            </a:r>
          </a:p>
          <a:p/>
          <a:p>
            <a:r>
              <a:t>A 60-page thesis might have 50 pages of plain prose, a few pages with tables, one full-page diagram, some formulas. Existing tools pick one strategy for the entire document. That's either overkill or underpowered, depending on the page.</a:t>
            </a:r>
          </a:p>
          <a:p/>
          <a:p>
            <a:r>
              <a:t>My system classifies every page into one of these six types — using simple, fast rules, no machine learning needed for this step — and routes each page to the method that suits it. Prose goes through a fast, exact text extractor. Complex pages go to an AI model that looks at a picture of the page.</a:t>
            </a:r>
          </a:p>
          <a:p/>
          <a:p>
            <a:r>
              <a:t>For the technical folks: the classifier reads structural signals from the PDF — image count, vector paths, character count, table detection — and is fully deterministic.</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pipeline in one picture.</a:t>
            </a:r>
          </a:p>
          <a:p/>
          <a:p>
            <a:r>
              <a:t>Each page gets classified, then routed. The green path — plain text — costs nothing: a library reads the text layer directly, in about 150 milliseconds. The blue path renders the page as an image and asks a vision-capable AI model to transcribe it into Markdown.</a:t>
            </a:r>
          </a:p>
          <a:p/>
          <a:p>
            <a:r>
              <a:t>Important for us as a company: the AI model is self-hosted. I used LM Studio, which runs open models on your own machine. No document ever goes to OpenAI or any cloud service. For confidential documents that's not a nice-to-have, it's the whole game.</a:t>
            </a:r>
          </a:p>
          <a:p/>
          <a:p>
            <a:r>
              <a:t>And the last box matters more than it looks: raw output from both paths is messy. I built 49 automated clean-up passes — covered by 182 unit tests — that repair headings, tables, code listings and so on. Hold that thought; it comes back in the plot twist at the end.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you prove a converter is good? You need an answer key.</a:t>
            </a:r>
          </a:p>
          <a:p/>
          <a:p>
            <a:r>
              <a:t>I took three real bachelor theses — 90 pages total — and wrote the correct Markdown for every single page by hand. Tedious, but it's the only way to get a trustworthy reference: if you generate the reference with another tool, you're just measuring agreement between two broken tools.</a:t>
            </a:r>
          </a:p>
          <a:p/>
          <a:p>
            <a:r>
              <a:t>Then every page was converted four ways: a plain text extractor as baseline, two strategies that send every page to the AI model, and my adaptive system. 360 scored conversions in total.</a:t>
            </a:r>
          </a:p>
          <a:p/>
          <a:p>
            <a:r>
              <a:t>One design decision I'd defend anywhere: seven separate metrics instead of one similarity score. A conversion can look 95% fine overall while every heading is broken. Separate metrics make each kind of failure visible.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quality results, all seven metrics, all four strategies.</a:t>
            </a:r>
          </a:p>
          <a:p/>
          <a:p>
            <a:r>
              <a:t>Three things to take away. First: green — my adaptive system — beats the two always-use-AI strategies on every single metric. Routing pays.</a:t>
            </a:r>
          </a:p>
          <a:p/>
          <a:p>
            <a:r>
              <a:t>Second: against the plain text baseline it's essentially a tie on prose metrics. That's expected — most thesis pages ARE prose, and for those, adaptive literally uses the same fast path.</a:t>
            </a:r>
          </a:p>
          <a:p/>
          <a:p>
            <a:r>
              <a:t>Third, the interesting one: tables. 0.978 versus 0.933. That gap is exactly the pages where the text layer falls apart and the vision model reads the table from the page image instead. That's the adaptive idea earning its keep.</a:t>
            </a:r>
          </a:p>
          <a:p/>
          <a:p>
            <a:r>
              <a:t>If someone asks about hybrid's heading score: giving the model text AND image sounds smarter but actually confuses it — the two inputs disagree about layout, and it trusts the picture. More input is not always better.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Quality is only half the story — the other half is cost, and this is where adaptive really wins.</a:t>
            </a:r>
          </a:p>
          <a:p/>
          <a:p>
            <a:r>
              <a:t>Of the 90 pages, 67 were classified as plain text and never touched the AI model at all. Only 23 pages needed vision. That's a 75 percent reduction in token consumption compared to sending every page to the model, and roughly 4.5 times faster end to end.</a:t>
            </a:r>
          </a:p>
          <a:p/>
          <a:p>
            <a:r>
              <a:t>For anyone thinking about production use: this is the difference between a pipeline you can afford to run over a whole document archive and one you can't. And the savings grow linearly with document length — the projection for a 300-page manual is about 1.1 million tokens versus 280 thousand.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my favourite slide, because it's the most honest one.</a:t>
            </a:r>
          </a:p>
          <a:p/>
          <a:p>
            <a:r>
              <a:t>For most of the project, my numbers said the AI strategies catastrophically failed at code blocks and paragraphs. I built a whole narrative around it. It felt right — everyone knows language models paraphrase.</a:t>
            </a:r>
          </a:p>
          <a:p/>
          <a:p>
            <a:r>
              <a:t>Then, while investigating something else, I discovered my evaluation script was scoring the model's raw output — before the 49 clean-up passes ran. The product ships cleaned output. My benchmark was grading a draft that no user ever sees.</a:t>
            </a:r>
          </a:p>
          <a:p/>
          <a:p>
            <a:r>
              <a:t>After the fix, the collapse disappeared. 0.25 became 0.97.</a:t>
            </a:r>
          </a:p>
          <a:p/>
          <a:p>
            <a:r>
              <a:t>And a second twist: I rented a big GPU and re-ran everything with a model five times the size. Almost nothing changed. Everyone's instinct — 'just use a bigger model' — was wrong here. The bottleneck was the pipeline around the model, and the measurement itself.</a:t>
            </a:r>
          </a:p>
          <a:p/>
          <a:p>
            <a:r>
              <a:t>The transferable lesson for any of our projects: measure what the user actually receives, end to end. A wrong benchmark is worse than no benchmark, because you'll optimise the wrong thing with full confidence.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wrap up, three takeaways.</a:t>
            </a:r>
          </a:p>
          <a:p/>
          <a:p>
            <a:r>
              <a:t>One: routing beats brute force. Classify first, then pick the tool. Same quality, a quarter of the compute.</a:t>
            </a:r>
          </a:p>
          <a:p/>
          <a:p>
            <a:r>
              <a:t>Two: you don't need a cloud AI service for this class of problem. A self-hosted open model did the job, and for confidential documents that's the only acceptable setup anyway.</a:t>
            </a:r>
          </a:p>
          <a:p/>
          <a:p>
            <a:r>
              <a:t>Three — the one I'll carry into every future project: grade the product, not the draft. My scariest-looking result was a bug in the measurement, and I only found it by tracing the full path from input to what a user actually gets.</a:t>
            </a:r>
          </a:p>
          <a:p/>
          <a:p>
            <a:r>
              <a:t>Happy to take questions — and if you want the gory technical details on any part, the thesis has 77 pages of them.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2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24528"/>
            <a:ext cx="12191695" cy="3175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920240"/>
            <a:ext cx="10515600" cy="1645920"/>
          </a:xfrm>
          <a:prstGeom prst="rect">
            <a:avLst/>
          </a:prstGeom>
          <a:noFill/>
        </p:spPr>
        <p:txBody>
          <a:bodyPr wrap="square" anchor="t">
            <a:spAutoFit/>
          </a:bodyPr>
          <a:lstStyle/>
          <a:p>
            <a:pPr algn="l">
              <a:lnSpc>
                <a:spcPct val="110000"/>
              </a:lnSpc>
            </a:pPr>
            <a:r>
              <a:rPr sz="3600" b="1">
                <a:solidFill>
                  <a:srgbClr val="FFFFFF"/>
                </a:solidFill>
                <a:latin typeface="Arial"/>
              </a:rPr>
              <a:t>Teaching a Converter to Read:</a:t>
            </a:r>
          </a:p>
          <a:p>
            <a:pPr algn="l">
              <a:lnSpc>
                <a:spcPct val="110000"/>
              </a:lnSpc>
            </a:pPr>
            <a:r>
              <a:rPr sz="3600" b="1">
                <a:solidFill>
                  <a:srgbClr val="FFFFFF"/>
                </a:solidFill>
                <a:latin typeface="Arial"/>
              </a:rPr>
              <a:t>PDF to Markdown with a Local AI Model</a:t>
            </a:r>
          </a:p>
        </p:txBody>
      </p:sp>
      <p:sp>
        <p:nvSpPr>
          <p:cNvPr id="5" name="TextBox 4"/>
          <p:cNvSpPr txBox="1"/>
          <p:nvPr/>
        </p:nvSpPr>
        <p:spPr>
          <a:xfrm>
            <a:off x="822960" y="4480560"/>
            <a:ext cx="10515600" cy="457200"/>
          </a:xfrm>
          <a:prstGeom prst="rect">
            <a:avLst/>
          </a:prstGeom>
          <a:noFill/>
        </p:spPr>
        <p:txBody>
          <a:bodyPr wrap="square" anchor="t">
            <a:spAutoFit/>
          </a:bodyPr>
          <a:lstStyle/>
          <a:p>
            <a:pPr algn="l">
              <a:lnSpc>
                <a:spcPct val="100000"/>
              </a:lnSpc>
            </a:pPr>
            <a:r>
              <a:rPr sz="1500" b="0">
                <a:solidFill>
                  <a:srgbClr val="B8C9DC"/>
                </a:solidFill>
                <a:latin typeface="Arial"/>
              </a:rPr>
              <a:t>Bachelor thesis — Development of a Multimodal System for Converting PDF Documents into Structured Markdown</a:t>
            </a:r>
          </a:p>
        </p:txBody>
      </p:sp>
      <p:sp>
        <p:nvSpPr>
          <p:cNvPr id="6" name="TextBox 5"/>
          <p:cNvSpPr txBox="1"/>
          <p:nvPr/>
        </p:nvSpPr>
        <p:spPr>
          <a:xfrm>
            <a:off x="822960" y="5029200"/>
            <a:ext cx="10515600" cy="457200"/>
          </a:xfrm>
          <a:prstGeom prst="rect">
            <a:avLst/>
          </a:prstGeom>
          <a:noFill/>
        </p:spPr>
        <p:txBody>
          <a:bodyPr wrap="square" anchor="t">
            <a:spAutoFit/>
          </a:bodyPr>
          <a:lstStyle/>
          <a:p>
            <a:pPr algn="l">
              <a:lnSpc>
                <a:spcPct val="100000"/>
              </a:lnSpc>
            </a:pPr>
            <a:r>
              <a:rPr sz="1500" b="0">
                <a:solidFill>
                  <a:srgbClr val="F0AB00"/>
                </a:solidFill>
                <a:latin typeface="Arial"/>
              </a:rPr>
              <a:t>Noor Martini  ·  Hochschule Mannheim  ·  Team presentation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82296" cy="47548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10881360" cy="640080"/>
          </a:xfrm>
          <a:prstGeom prst="rect">
            <a:avLst/>
          </a:prstGeom>
          <a:noFill/>
        </p:spPr>
        <p:txBody>
          <a:bodyPr wrap="square" anchor="t">
            <a:spAutoFit/>
          </a:bodyPr>
          <a:lstStyle/>
          <a:p>
            <a:pPr algn="l">
              <a:lnSpc>
                <a:spcPct val="100000"/>
              </a:lnSpc>
            </a:pPr>
            <a:r>
              <a:rPr sz="2700" b="1">
                <a:solidFill>
                  <a:srgbClr val="12293F"/>
                </a:solidFill>
                <a:latin typeface="Arial"/>
              </a:rPr>
              <a:t>The problem: PDFs are pictures of documents</a:t>
            </a:r>
          </a:p>
        </p:txBody>
      </p:sp>
      <p:sp>
        <p:nvSpPr>
          <p:cNvPr id="4" name="TextBox 3"/>
          <p:cNvSpPr txBox="1"/>
          <p:nvPr/>
        </p:nvSpPr>
        <p:spPr>
          <a:xfrm>
            <a:off x="731520" y="868680"/>
            <a:ext cx="10881360" cy="365760"/>
          </a:xfrm>
          <a:prstGeom prst="rect">
            <a:avLst/>
          </a:prstGeom>
          <a:noFill/>
        </p:spPr>
        <p:txBody>
          <a:bodyPr wrap="square" anchor="t">
            <a:spAutoFit/>
          </a:bodyPr>
          <a:lstStyle/>
          <a:p>
            <a:pPr algn="l">
              <a:lnSpc>
                <a:spcPct val="100000"/>
              </a:lnSpc>
            </a:pPr>
            <a:r>
              <a:rPr sz="1300" b="0">
                <a:solidFill>
                  <a:srgbClr val="556B82"/>
                </a:solidFill>
                <a:latin typeface="Arial"/>
              </a:rPr>
              <a:t>Why converting them is harder than it looks</a:t>
            </a:r>
          </a:p>
        </p:txBody>
      </p:sp>
      <p:sp>
        <p:nvSpPr>
          <p:cNvPr id="5" name="Rectangle 4"/>
          <p:cNvSpPr/>
          <p:nvPr/>
        </p:nvSpPr>
        <p:spPr>
          <a:xfrm>
            <a:off x="502920" y="1234440"/>
            <a:ext cx="11183112" cy="20320"/>
          </a:xfrm>
          <a:prstGeom prst="rect">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554480"/>
            <a:ext cx="6035040" cy="4389120"/>
          </a:xfrm>
          <a:prstGeom prst="rect">
            <a:avLst/>
          </a:prstGeom>
          <a:noFill/>
        </p:spPr>
        <p:txBody>
          <a:bodyPr wrap="square">
            <a:spAutoFit/>
          </a:bodyPr>
          <a:lstStyle/>
          <a:p>
            <a:pPr>
              <a:lnSpc>
                <a:spcPct val="105000"/>
              </a:lnSpc>
              <a:spcAft>
                <a:spcPts val="600"/>
              </a:spcAft>
            </a:pPr>
            <a:r>
              <a:rPr sz="1800" b="1">
                <a:solidFill>
                  <a:srgbClr val="223348"/>
                </a:solidFill>
                <a:latin typeface="Arial"/>
              </a:rPr>
              <a:t>A PDF stores where each character sits on the page — nothing more.</a:t>
            </a:r>
          </a:p>
          <a:p>
            <a:pPr lvl="1">
              <a:lnSpc>
                <a:spcPct val="105000"/>
              </a:lnSpc>
              <a:spcAft>
                <a:spcPts val="600"/>
              </a:spcAft>
            </a:pPr>
            <a:r>
              <a:rPr sz="1600" b="0">
                <a:solidFill>
                  <a:srgbClr val="223348"/>
                </a:solidFill>
                <a:latin typeface="Arial"/>
              </a:rPr>
              <a:t>No concept of headings, paragraphs, lists, or tables</a:t>
            </a:r>
          </a:p>
          <a:p>
            <a:pPr lvl="1">
              <a:lnSpc>
                <a:spcPct val="105000"/>
              </a:lnSpc>
              <a:spcAft>
                <a:spcPts val="600"/>
              </a:spcAft>
            </a:pPr>
            <a:r>
              <a:rPr sz="1600" b="0">
                <a:solidFill>
                  <a:srgbClr val="223348"/>
                </a:solidFill>
                <a:latin typeface="Arial"/>
              </a:rPr>
              <a:t>The structure you see is an illusion your eyes create</a:t>
            </a:r>
          </a:p>
          <a:p>
            <a:pPr>
              <a:lnSpc>
                <a:spcPct val="105000"/>
              </a:lnSpc>
              <a:spcAft>
                <a:spcPts val="600"/>
              </a:spcAft>
            </a:pPr>
            <a:r>
              <a:rPr sz="1800" b="1">
                <a:solidFill>
                  <a:srgbClr val="223348"/>
                </a:solidFill>
                <a:latin typeface="Arial"/>
              </a:rPr>
              <a:t>Software has to reverse-engineer that structure. It often fails.</a:t>
            </a:r>
          </a:p>
          <a:p>
            <a:pPr lvl="1">
              <a:lnSpc>
                <a:spcPct val="105000"/>
              </a:lnSpc>
              <a:spcAft>
                <a:spcPts val="600"/>
              </a:spcAft>
            </a:pPr>
            <a:r>
              <a:rPr sz="1600" b="0">
                <a:solidFill>
                  <a:srgbClr val="223348"/>
                </a:solidFill>
                <a:latin typeface="Arial"/>
              </a:rPr>
              <a:t>Tables fall apart, headings become plain text</a:t>
            </a:r>
          </a:p>
          <a:p>
            <a:pPr lvl="1">
              <a:lnSpc>
                <a:spcPct val="105000"/>
              </a:lnSpc>
              <a:spcAft>
                <a:spcPts val="600"/>
              </a:spcAft>
            </a:pPr>
            <a:r>
              <a:rPr sz="1600" b="0">
                <a:solidFill>
                  <a:srgbClr val="223348"/>
                </a:solidFill>
                <a:latin typeface="Arial"/>
              </a:rPr>
              <a:t>Formulas and code listings get mangled</a:t>
            </a:r>
          </a:p>
          <a:p>
            <a:pPr>
              <a:lnSpc>
                <a:spcPct val="105000"/>
              </a:lnSpc>
              <a:spcAft>
                <a:spcPts val="600"/>
              </a:spcAft>
            </a:pPr>
            <a:r>
              <a:rPr sz="1800" b="1">
                <a:solidFill>
                  <a:srgbClr val="223348"/>
                </a:solidFill>
                <a:latin typeface="Arial"/>
              </a:rPr>
              <a:t>And it matters more than ever:</a:t>
            </a:r>
          </a:p>
          <a:p>
            <a:pPr lvl="1">
              <a:lnSpc>
                <a:spcPct val="105000"/>
              </a:lnSpc>
              <a:spcAft>
                <a:spcPts val="600"/>
              </a:spcAft>
            </a:pPr>
            <a:r>
              <a:rPr sz="1600" b="0">
                <a:solidFill>
                  <a:srgbClr val="223348"/>
                </a:solidFill>
                <a:latin typeface="Arial"/>
              </a:rPr>
              <a:t>AI assistants and search over company documents need clean, structured input</a:t>
            </a:r>
          </a:p>
          <a:p>
            <a:pPr lvl="1">
              <a:lnSpc>
                <a:spcPct val="105000"/>
              </a:lnSpc>
              <a:spcAft>
                <a:spcPts val="600"/>
              </a:spcAft>
            </a:pPr>
            <a:r>
              <a:rPr sz="1600" b="0">
                <a:solidFill>
                  <a:srgbClr val="223348"/>
                </a:solidFill>
                <a:latin typeface="Arial"/>
              </a:rPr>
              <a:t>Garbage in — garbage out: bad extraction caps answer quality</a:t>
            </a:r>
          </a:p>
        </p:txBody>
      </p:sp>
      <p:sp>
        <p:nvSpPr>
          <p:cNvPr id="7" name="Rectangle 6"/>
          <p:cNvSpPr/>
          <p:nvPr/>
        </p:nvSpPr>
        <p:spPr>
          <a:xfrm>
            <a:off x="7132320" y="1737360"/>
            <a:ext cx="4480560" cy="3931920"/>
          </a:xfrm>
          <a:prstGeom prst="rect">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06640" y="2011680"/>
            <a:ext cx="3931920" cy="3474720"/>
          </a:xfrm>
          <a:prstGeom prst="rect">
            <a:avLst/>
          </a:prstGeom>
          <a:noFill/>
        </p:spPr>
        <p:txBody>
          <a:bodyPr wrap="square" anchor="t">
            <a:spAutoFit/>
          </a:bodyPr>
          <a:lstStyle/>
          <a:p>
            <a:pPr algn="l">
              <a:lnSpc>
                <a:spcPct val="115000"/>
              </a:lnSpc>
            </a:pPr>
            <a:r>
              <a:rPr sz="1500" b="0">
                <a:solidFill>
                  <a:srgbClr val="223348"/>
                </a:solidFill>
                <a:latin typeface="Arial"/>
              </a:rPr>
              <a:t>What a PDF actually contains:</a:t>
            </a:r>
          </a:p>
          <a:p>
            <a:pPr algn="l">
              <a:lnSpc>
                <a:spcPct val="115000"/>
              </a:lnSpc>
            </a:pPr>
          </a:p>
          <a:p>
            <a:pPr algn="l">
              <a:lnSpc>
                <a:spcPct val="115000"/>
              </a:lnSpc>
            </a:pPr>
            <a:r>
              <a:rPr sz="1500" b="0">
                <a:solidFill>
                  <a:srgbClr val="223348"/>
                </a:solidFill>
                <a:latin typeface="Arial"/>
              </a:rPr>
              <a:t>“T” at (72, 310)</a:t>
            </a:r>
          </a:p>
          <a:p>
            <a:pPr algn="l">
              <a:lnSpc>
                <a:spcPct val="115000"/>
              </a:lnSpc>
            </a:pPr>
            <a:r>
              <a:rPr sz="1500" b="0">
                <a:solidFill>
                  <a:srgbClr val="223348"/>
                </a:solidFill>
                <a:latin typeface="Arial"/>
              </a:rPr>
              <a:t>“a” at (81, 310)</a:t>
            </a:r>
          </a:p>
          <a:p>
            <a:pPr algn="l">
              <a:lnSpc>
                <a:spcPct val="115000"/>
              </a:lnSpc>
            </a:pPr>
            <a:r>
              <a:rPr sz="1500" b="0">
                <a:solidFill>
                  <a:srgbClr val="223348"/>
                </a:solidFill>
                <a:latin typeface="Arial"/>
              </a:rPr>
              <a:t>“b” at (89, 310)</a:t>
            </a:r>
          </a:p>
          <a:p>
            <a:pPr algn="l">
              <a:lnSpc>
                <a:spcPct val="115000"/>
              </a:lnSpc>
            </a:pPr>
            <a:r>
              <a:rPr sz="1500" b="0">
                <a:solidFill>
                  <a:srgbClr val="223348"/>
                </a:solidFill>
                <a:latin typeface="Arial"/>
              </a:rPr>
              <a:t>“l” at (96, 310)</a:t>
            </a:r>
          </a:p>
          <a:p>
            <a:pPr algn="l">
              <a:lnSpc>
                <a:spcPct val="115000"/>
              </a:lnSpc>
            </a:pPr>
            <a:r>
              <a:rPr sz="1500" b="0">
                <a:solidFill>
                  <a:srgbClr val="223348"/>
                </a:solidFill>
                <a:latin typeface="Arial"/>
              </a:rPr>
              <a:t>“e” at (100, 310)</a:t>
            </a:r>
          </a:p>
          <a:p>
            <a:pPr algn="l">
              <a:lnSpc>
                <a:spcPct val="115000"/>
              </a:lnSpc>
            </a:pPr>
            <a:r>
              <a:rPr sz="1500" b="0">
                <a:solidFill>
                  <a:srgbClr val="223348"/>
                </a:solidFill>
                <a:latin typeface="Arial"/>
              </a:rPr>
              <a:t>…</a:t>
            </a:r>
          </a:p>
          <a:p>
            <a:pPr algn="l">
              <a:lnSpc>
                <a:spcPct val="115000"/>
              </a:lnSpc>
            </a:pPr>
          </a:p>
          <a:p>
            <a:pPr algn="l">
              <a:lnSpc>
                <a:spcPct val="115000"/>
              </a:lnSpc>
            </a:pPr>
            <a:r>
              <a:rPr sz="1500" b="0">
                <a:solidFill>
                  <a:srgbClr val="223348"/>
                </a:solidFill>
                <a:latin typeface="Arial"/>
              </a:rPr>
              <a:t>No table. No heading.</a:t>
            </a:r>
          </a:p>
          <a:p>
            <a:pPr algn="l">
              <a:lnSpc>
                <a:spcPct val="115000"/>
              </a:lnSpc>
            </a:pPr>
            <a:r>
              <a:rPr sz="1500" b="0">
                <a:solidFill>
                  <a:srgbClr val="223348"/>
                </a:solidFill>
                <a:latin typeface="Arial"/>
              </a:rPr>
              <a:t>Just letters at coordinates.</a:t>
            </a:r>
          </a:p>
        </p:txBody>
      </p:sp>
      <p:sp>
        <p:nvSpPr>
          <p:cNvPr id="9" name="TextBox 8"/>
          <p:cNvSpPr txBox="1"/>
          <p:nvPr/>
        </p:nvSpPr>
        <p:spPr>
          <a:xfrm>
            <a:off x="11475720" y="6473952"/>
            <a:ext cx="548640" cy="274320"/>
          </a:xfrm>
          <a:prstGeom prst="rect">
            <a:avLst/>
          </a:prstGeom>
          <a:noFill/>
        </p:spPr>
        <p:txBody>
          <a:bodyPr wrap="square" anchor="t">
            <a:spAutoFit/>
          </a:bodyPr>
          <a:lstStyle/>
          <a:p>
            <a:pPr algn="r">
              <a:lnSpc>
                <a:spcPct val="100000"/>
              </a:lnSpc>
            </a:pPr>
            <a:r>
              <a:rPr sz="1000" b="0">
                <a:solidFill>
                  <a:srgbClr val="556B82"/>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82296" cy="47548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10881360" cy="640080"/>
          </a:xfrm>
          <a:prstGeom prst="rect">
            <a:avLst/>
          </a:prstGeom>
          <a:noFill/>
        </p:spPr>
        <p:txBody>
          <a:bodyPr wrap="square" anchor="t">
            <a:spAutoFit/>
          </a:bodyPr>
          <a:lstStyle/>
          <a:p>
            <a:pPr algn="l">
              <a:lnSpc>
                <a:spcPct val="100000"/>
              </a:lnSpc>
            </a:pPr>
            <a:r>
              <a:rPr sz="2700" b="1">
                <a:solidFill>
                  <a:srgbClr val="12293F"/>
                </a:solidFill>
                <a:latin typeface="Arial"/>
              </a:rPr>
              <a:t>The target: Markdown</a:t>
            </a:r>
          </a:p>
        </p:txBody>
      </p:sp>
      <p:sp>
        <p:nvSpPr>
          <p:cNvPr id="4" name="TextBox 3"/>
          <p:cNvSpPr txBox="1"/>
          <p:nvPr/>
        </p:nvSpPr>
        <p:spPr>
          <a:xfrm>
            <a:off x="731520" y="868680"/>
            <a:ext cx="10881360" cy="365760"/>
          </a:xfrm>
          <a:prstGeom prst="rect">
            <a:avLst/>
          </a:prstGeom>
          <a:noFill/>
        </p:spPr>
        <p:txBody>
          <a:bodyPr wrap="square" anchor="t">
            <a:spAutoFit/>
          </a:bodyPr>
          <a:lstStyle/>
          <a:p>
            <a:pPr algn="l">
              <a:lnSpc>
                <a:spcPct val="100000"/>
              </a:lnSpc>
            </a:pPr>
            <a:r>
              <a:rPr sz="1300" b="0">
                <a:solidFill>
                  <a:srgbClr val="556B82"/>
                </a:solidFill>
                <a:latin typeface="Arial"/>
              </a:rPr>
              <a:t>Plain text that keeps its structure</a:t>
            </a:r>
          </a:p>
        </p:txBody>
      </p:sp>
      <p:sp>
        <p:nvSpPr>
          <p:cNvPr id="5" name="Rectangle 4"/>
          <p:cNvSpPr/>
          <p:nvPr/>
        </p:nvSpPr>
        <p:spPr>
          <a:xfrm>
            <a:off x="502920" y="1234440"/>
            <a:ext cx="11183112" cy="20320"/>
          </a:xfrm>
          <a:prstGeom prst="rect">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554480"/>
            <a:ext cx="5852160" cy="4206240"/>
          </a:xfrm>
          <a:prstGeom prst="rect">
            <a:avLst/>
          </a:prstGeom>
          <a:noFill/>
        </p:spPr>
        <p:txBody>
          <a:bodyPr wrap="square">
            <a:spAutoFit/>
          </a:bodyPr>
          <a:lstStyle/>
          <a:p>
            <a:pPr>
              <a:lnSpc>
                <a:spcPct val="105000"/>
              </a:lnSpc>
              <a:spcAft>
                <a:spcPts val="600"/>
              </a:spcAft>
            </a:pPr>
            <a:r>
              <a:rPr sz="1800" b="1">
                <a:solidFill>
                  <a:srgbClr val="223348"/>
                </a:solidFill>
                <a:latin typeface="Arial"/>
              </a:rPr>
              <a:t>Markdown is plain text with tiny structural markers</a:t>
            </a:r>
          </a:p>
          <a:p>
            <a:pPr lvl="1">
              <a:lnSpc>
                <a:spcPct val="105000"/>
              </a:lnSpc>
              <a:spcAft>
                <a:spcPts val="600"/>
              </a:spcAft>
            </a:pPr>
            <a:r>
              <a:rPr sz="1600" b="0">
                <a:solidFill>
                  <a:srgbClr val="223348"/>
                </a:solidFill>
                <a:latin typeface="Arial"/>
              </a:rPr>
              <a:t># for headings, - for lists, | for table columns</a:t>
            </a:r>
          </a:p>
          <a:p>
            <a:pPr lvl="1">
              <a:lnSpc>
                <a:spcPct val="105000"/>
              </a:lnSpc>
              <a:spcAft>
                <a:spcPts val="600"/>
              </a:spcAft>
            </a:pPr>
            <a:r>
              <a:rPr sz="1600" b="0">
                <a:solidFill>
                  <a:srgbClr val="223348"/>
                </a:solidFill>
                <a:latin typeface="Arial"/>
              </a:rPr>
              <a:t>Readable by humans without any special software</a:t>
            </a:r>
          </a:p>
          <a:p>
            <a:pPr>
              <a:lnSpc>
                <a:spcPct val="105000"/>
              </a:lnSpc>
              <a:spcAft>
                <a:spcPts val="600"/>
              </a:spcAft>
            </a:pPr>
            <a:r>
              <a:rPr sz="1800" b="1">
                <a:solidFill>
                  <a:srgbClr val="223348"/>
                </a:solidFill>
                <a:latin typeface="Arial"/>
              </a:rPr>
              <a:t>Perfect input format for AI pipelines</a:t>
            </a:r>
          </a:p>
          <a:p>
            <a:pPr lvl="1">
              <a:lnSpc>
                <a:spcPct val="105000"/>
              </a:lnSpc>
              <a:spcAft>
                <a:spcPts val="600"/>
              </a:spcAft>
            </a:pPr>
            <a:r>
              <a:rPr sz="1600" b="0">
                <a:solidFill>
                  <a:srgbClr val="223348"/>
                </a:solidFill>
                <a:latin typeface="Arial"/>
              </a:rPr>
              <a:t>Structure survives: a heading stays a heading</a:t>
            </a:r>
          </a:p>
          <a:p>
            <a:pPr lvl="1">
              <a:lnSpc>
                <a:spcPct val="105000"/>
              </a:lnSpc>
              <a:spcAft>
                <a:spcPts val="600"/>
              </a:spcAft>
            </a:pPr>
            <a:r>
              <a:rPr sz="1600" b="0">
                <a:solidFill>
                  <a:srgbClr val="223348"/>
                </a:solidFill>
                <a:latin typeface="Arial"/>
              </a:rPr>
              <a:t>Works with version control (Git) — diffs, history</a:t>
            </a:r>
          </a:p>
          <a:p>
            <a:pPr lvl="1">
              <a:lnSpc>
                <a:spcPct val="105000"/>
              </a:lnSpc>
              <a:spcAft>
                <a:spcPts val="600"/>
              </a:spcAft>
            </a:pPr>
            <a:r>
              <a:rPr sz="1600" b="0">
                <a:solidFill>
                  <a:srgbClr val="223348"/>
                </a:solidFill>
                <a:latin typeface="Arial"/>
              </a:rPr>
              <a:t>The de-facto standard for feeding documents to LLMs</a:t>
            </a:r>
          </a:p>
        </p:txBody>
      </p:sp>
      <p:sp>
        <p:nvSpPr>
          <p:cNvPr id="7" name="Rectangle 6"/>
          <p:cNvSpPr/>
          <p:nvPr/>
        </p:nvSpPr>
        <p:spPr>
          <a:xfrm>
            <a:off x="6949440" y="1737360"/>
            <a:ext cx="4663440" cy="3931920"/>
          </a:xfrm>
          <a:prstGeom prst="rect">
            <a:avLst/>
          </a:prstGeom>
          <a:solidFill>
            <a:srgbClr val="122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23760" y="1965960"/>
            <a:ext cx="4206240" cy="3566160"/>
          </a:xfrm>
          <a:prstGeom prst="rect">
            <a:avLst/>
          </a:prstGeom>
          <a:noFill/>
        </p:spPr>
        <p:txBody>
          <a:bodyPr wrap="square" anchor="t">
            <a:spAutoFit/>
          </a:bodyPr>
          <a:lstStyle/>
          <a:p>
            <a:pPr algn="l">
              <a:lnSpc>
                <a:spcPct val="120000"/>
              </a:lnSpc>
            </a:pPr>
            <a:r>
              <a:rPr sz="1500" b="0">
                <a:solidFill>
                  <a:srgbClr val="D9E6F5"/>
                </a:solidFill>
                <a:latin typeface="Arial"/>
              </a:rPr>
              <a:t># Quarterly Report</a:t>
            </a:r>
          </a:p>
          <a:p>
            <a:pPr algn="l">
              <a:lnSpc>
                <a:spcPct val="120000"/>
              </a:lnSpc>
            </a:pPr>
          </a:p>
          <a:p>
            <a:pPr algn="l">
              <a:lnSpc>
                <a:spcPct val="120000"/>
              </a:lnSpc>
            </a:pPr>
            <a:r>
              <a:rPr sz="1500" b="0">
                <a:solidFill>
                  <a:srgbClr val="D9E6F5"/>
                </a:solidFill>
                <a:latin typeface="Arial"/>
              </a:rPr>
              <a:t>## Revenue</a:t>
            </a:r>
          </a:p>
          <a:p>
            <a:pPr algn="l">
              <a:lnSpc>
                <a:spcPct val="120000"/>
              </a:lnSpc>
            </a:pPr>
          </a:p>
          <a:p>
            <a:pPr algn="l">
              <a:lnSpc>
                <a:spcPct val="120000"/>
              </a:lnSpc>
            </a:pPr>
            <a:r>
              <a:rPr sz="1500" b="0">
                <a:solidFill>
                  <a:srgbClr val="D9E6F5"/>
                </a:solidFill>
                <a:latin typeface="Arial"/>
              </a:rPr>
              <a:t>Revenue grew by 12% …</a:t>
            </a:r>
          </a:p>
          <a:p>
            <a:pPr algn="l">
              <a:lnSpc>
                <a:spcPct val="120000"/>
              </a:lnSpc>
            </a:pPr>
          </a:p>
          <a:p>
            <a:pPr algn="l">
              <a:lnSpc>
                <a:spcPct val="120000"/>
              </a:lnSpc>
            </a:pPr>
            <a:r>
              <a:rPr sz="1500" b="0">
                <a:solidFill>
                  <a:srgbClr val="D9E6F5"/>
                </a:solidFill>
                <a:latin typeface="Arial"/>
              </a:rPr>
              <a:t>| Region | Q1 | Q2 |</a:t>
            </a:r>
          </a:p>
          <a:p>
            <a:pPr algn="l">
              <a:lnSpc>
                <a:spcPct val="120000"/>
              </a:lnSpc>
            </a:pPr>
            <a:r>
              <a:rPr sz="1500" b="0">
                <a:solidFill>
                  <a:srgbClr val="D9E6F5"/>
                </a:solidFill>
                <a:latin typeface="Arial"/>
              </a:rPr>
              <a:t>|--------|-----|-----|</a:t>
            </a:r>
          </a:p>
          <a:p>
            <a:pPr algn="l">
              <a:lnSpc>
                <a:spcPct val="120000"/>
              </a:lnSpc>
            </a:pPr>
            <a:r>
              <a:rPr sz="1500" b="0">
                <a:solidFill>
                  <a:srgbClr val="D9E6F5"/>
                </a:solidFill>
                <a:latin typeface="Arial"/>
              </a:rPr>
              <a:t>| EMEA   | 4.1 | 4.6 |</a:t>
            </a:r>
          </a:p>
        </p:txBody>
      </p:sp>
      <p:sp>
        <p:nvSpPr>
          <p:cNvPr id="9" name="TextBox 8"/>
          <p:cNvSpPr txBox="1"/>
          <p:nvPr/>
        </p:nvSpPr>
        <p:spPr>
          <a:xfrm>
            <a:off x="11475720" y="6473952"/>
            <a:ext cx="548640" cy="274320"/>
          </a:xfrm>
          <a:prstGeom prst="rect">
            <a:avLst/>
          </a:prstGeom>
          <a:noFill/>
        </p:spPr>
        <p:txBody>
          <a:bodyPr wrap="square" anchor="t">
            <a:spAutoFit/>
          </a:bodyPr>
          <a:lstStyle/>
          <a:p>
            <a:pPr algn="r">
              <a:lnSpc>
                <a:spcPct val="100000"/>
              </a:lnSpc>
            </a:pPr>
            <a:r>
              <a:rPr sz="1000" b="0">
                <a:solidFill>
                  <a:srgbClr val="556B82"/>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82296" cy="47548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10881360" cy="640080"/>
          </a:xfrm>
          <a:prstGeom prst="rect">
            <a:avLst/>
          </a:prstGeom>
          <a:noFill/>
        </p:spPr>
        <p:txBody>
          <a:bodyPr wrap="square" anchor="t">
            <a:spAutoFit/>
          </a:bodyPr>
          <a:lstStyle/>
          <a:p>
            <a:pPr algn="l">
              <a:lnSpc>
                <a:spcPct val="100000"/>
              </a:lnSpc>
            </a:pPr>
            <a:r>
              <a:rPr sz="2700" b="1">
                <a:solidFill>
                  <a:srgbClr val="12293F"/>
                </a:solidFill>
                <a:latin typeface="Arial"/>
              </a:rPr>
              <a:t>The idea: stop treating every page the same</a:t>
            </a:r>
          </a:p>
        </p:txBody>
      </p:sp>
      <p:sp>
        <p:nvSpPr>
          <p:cNvPr id="4" name="TextBox 3"/>
          <p:cNvSpPr txBox="1"/>
          <p:nvPr/>
        </p:nvSpPr>
        <p:spPr>
          <a:xfrm>
            <a:off x="731520" y="868680"/>
            <a:ext cx="10881360" cy="365760"/>
          </a:xfrm>
          <a:prstGeom prst="rect">
            <a:avLst/>
          </a:prstGeom>
          <a:noFill/>
        </p:spPr>
        <p:txBody>
          <a:bodyPr wrap="square" anchor="t">
            <a:spAutoFit/>
          </a:bodyPr>
          <a:lstStyle/>
          <a:p>
            <a:pPr algn="l">
              <a:lnSpc>
                <a:spcPct val="100000"/>
              </a:lnSpc>
            </a:pPr>
            <a:r>
              <a:rPr sz="1300" b="0">
                <a:solidFill>
                  <a:srgbClr val="556B82"/>
                </a:solidFill>
                <a:latin typeface="Arial"/>
              </a:rPr>
              <a:t>The core contribution of the thesis</a:t>
            </a:r>
          </a:p>
        </p:txBody>
      </p:sp>
      <p:sp>
        <p:nvSpPr>
          <p:cNvPr id="5" name="Rectangle 4"/>
          <p:cNvSpPr/>
          <p:nvPr/>
        </p:nvSpPr>
        <p:spPr>
          <a:xfrm>
            <a:off x="502920" y="1234440"/>
            <a:ext cx="11183112" cy="20320"/>
          </a:xfrm>
          <a:prstGeom prst="rect">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508760"/>
            <a:ext cx="10881360" cy="1737360"/>
          </a:xfrm>
          <a:prstGeom prst="rect">
            <a:avLst/>
          </a:prstGeom>
          <a:noFill/>
        </p:spPr>
        <p:txBody>
          <a:bodyPr wrap="square">
            <a:spAutoFit/>
          </a:bodyPr>
          <a:lstStyle/>
          <a:p>
            <a:pPr>
              <a:lnSpc>
                <a:spcPct val="105000"/>
              </a:lnSpc>
              <a:spcAft>
                <a:spcPts val="600"/>
              </a:spcAft>
            </a:pPr>
            <a:r>
              <a:rPr sz="1900" b="1">
                <a:solidFill>
                  <a:srgbClr val="223348"/>
                </a:solidFill>
                <a:latin typeface="Arial"/>
              </a:rPr>
              <a:t>Existing tools pick ONE method and apply it to the whole document.</a:t>
            </a:r>
          </a:p>
          <a:p>
            <a:pPr lvl="1">
              <a:lnSpc>
                <a:spcPct val="105000"/>
              </a:lnSpc>
              <a:spcAft>
                <a:spcPts val="600"/>
              </a:spcAft>
            </a:pPr>
            <a:r>
              <a:rPr sz="1700" b="0">
                <a:solidFill>
                  <a:srgbClr val="223348"/>
                </a:solidFill>
                <a:latin typeface="Arial"/>
              </a:rPr>
              <a:t>A text extractor fails on scans and diagrams; sending every page to an AI vision model is slow and expensive</a:t>
            </a:r>
          </a:p>
          <a:p>
            <a:pPr>
              <a:lnSpc>
                <a:spcPct val="105000"/>
              </a:lnSpc>
              <a:spcAft>
                <a:spcPts val="600"/>
              </a:spcAft>
            </a:pPr>
            <a:r>
              <a:rPr sz="1900" b="1">
                <a:solidFill>
                  <a:srgbClr val="0070F2"/>
                </a:solidFill>
                <a:latin typeface="Arial"/>
              </a:rPr>
              <a:t>My system looks at each page first, then picks the right tool for that page.</a:t>
            </a:r>
          </a:p>
        </p:txBody>
      </p:sp>
      <p:sp>
        <p:nvSpPr>
          <p:cNvPr id="7" name="Rectangle 6"/>
          <p:cNvSpPr/>
          <p:nvPr/>
        </p:nvSpPr>
        <p:spPr>
          <a:xfrm>
            <a:off x="731520" y="3657600"/>
            <a:ext cx="1664208" cy="1371600"/>
          </a:xfrm>
          <a:prstGeom prst="rect">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3822191"/>
            <a:ext cx="1664208" cy="457200"/>
          </a:xfrm>
          <a:prstGeom prst="rect">
            <a:avLst/>
          </a:prstGeom>
          <a:noFill/>
        </p:spPr>
        <p:txBody>
          <a:bodyPr wrap="square" anchor="t">
            <a:spAutoFit/>
          </a:bodyPr>
          <a:lstStyle/>
          <a:p>
            <a:pPr algn="ctr">
              <a:lnSpc>
                <a:spcPct val="100000"/>
              </a:lnSpc>
            </a:pPr>
            <a:r>
              <a:rPr sz="1600" b="1">
                <a:solidFill>
                  <a:srgbClr val="188A4E"/>
                </a:solidFill>
                <a:latin typeface="Arial"/>
              </a:rPr>
              <a:t>TEXT</a:t>
            </a:r>
          </a:p>
        </p:txBody>
      </p:sp>
      <p:sp>
        <p:nvSpPr>
          <p:cNvPr id="9" name="TextBox 8"/>
          <p:cNvSpPr txBox="1"/>
          <p:nvPr/>
        </p:nvSpPr>
        <p:spPr>
          <a:xfrm>
            <a:off x="731520" y="4315968"/>
            <a:ext cx="1664208" cy="640080"/>
          </a:xfrm>
          <a:prstGeom prst="rect">
            <a:avLst/>
          </a:prstGeom>
          <a:noFill/>
        </p:spPr>
        <p:txBody>
          <a:bodyPr wrap="square" anchor="t">
            <a:spAutoFit/>
          </a:bodyPr>
          <a:lstStyle/>
          <a:p>
            <a:pPr algn="ctr">
              <a:lnSpc>
                <a:spcPct val="100000"/>
              </a:lnSpc>
            </a:pPr>
            <a:r>
              <a:rPr sz="1200" b="0">
                <a:solidFill>
                  <a:srgbClr val="556B82"/>
                </a:solidFill>
                <a:latin typeface="Arial"/>
              </a:rPr>
              <a:t>prose pages</a:t>
            </a:r>
          </a:p>
        </p:txBody>
      </p:sp>
      <p:sp>
        <p:nvSpPr>
          <p:cNvPr id="10" name="Rectangle 9"/>
          <p:cNvSpPr/>
          <p:nvPr/>
        </p:nvSpPr>
        <p:spPr>
          <a:xfrm>
            <a:off x="2578608" y="3657600"/>
            <a:ext cx="1664208" cy="1371600"/>
          </a:xfrm>
          <a:prstGeom prst="rect">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78608" y="3822191"/>
            <a:ext cx="1664208" cy="457200"/>
          </a:xfrm>
          <a:prstGeom prst="rect">
            <a:avLst/>
          </a:prstGeom>
          <a:noFill/>
        </p:spPr>
        <p:txBody>
          <a:bodyPr wrap="square" anchor="t">
            <a:spAutoFit/>
          </a:bodyPr>
          <a:lstStyle/>
          <a:p>
            <a:pPr algn="ctr">
              <a:lnSpc>
                <a:spcPct val="100000"/>
              </a:lnSpc>
            </a:pPr>
            <a:r>
              <a:rPr sz="1600" b="1">
                <a:solidFill>
                  <a:srgbClr val="0070F2"/>
                </a:solidFill>
                <a:latin typeface="Arial"/>
              </a:rPr>
              <a:t>TABLE</a:t>
            </a:r>
          </a:p>
        </p:txBody>
      </p:sp>
      <p:sp>
        <p:nvSpPr>
          <p:cNvPr id="12" name="TextBox 11"/>
          <p:cNvSpPr txBox="1"/>
          <p:nvPr/>
        </p:nvSpPr>
        <p:spPr>
          <a:xfrm>
            <a:off x="2578608" y="4315968"/>
            <a:ext cx="1664208" cy="640080"/>
          </a:xfrm>
          <a:prstGeom prst="rect">
            <a:avLst/>
          </a:prstGeom>
          <a:noFill/>
        </p:spPr>
        <p:txBody>
          <a:bodyPr wrap="square" anchor="t">
            <a:spAutoFit/>
          </a:bodyPr>
          <a:lstStyle/>
          <a:p>
            <a:pPr algn="ctr">
              <a:lnSpc>
                <a:spcPct val="100000"/>
              </a:lnSpc>
            </a:pPr>
            <a:r>
              <a:rPr sz="1200" b="0">
                <a:solidFill>
                  <a:srgbClr val="556B82"/>
                </a:solidFill>
                <a:latin typeface="Arial"/>
              </a:rPr>
              <a:t>tabular data</a:t>
            </a:r>
          </a:p>
        </p:txBody>
      </p:sp>
      <p:sp>
        <p:nvSpPr>
          <p:cNvPr id="13" name="Rectangle 12"/>
          <p:cNvSpPr/>
          <p:nvPr/>
        </p:nvSpPr>
        <p:spPr>
          <a:xfrm>
            <a:off x="4425696" y="3657600"/>
            <a:ext cx="1664208" cy="1371600"/>
          </a:xfrm>
          <a:prstGeom prst="rect">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25696" y="3822191"/>
            <a:ext cx="1664208" cy="457200"/>
          </a:xfrm>
          <a:prstGeom prst="rect">
            <a:avLst/>
          </a:prstGeom>
          <a:noFill/>
        </p:spPr>
        <p:txBody>
          <a:bodyPr wrap="square" anchor="t">
            <a:spAutoFit/>
          </a:bodyPr>
          <a:lstStyle/>
          <a:p>
            <a:pPr algn="ctr">
              <a:lnSpc>
                <a:spcPct val="100000"/>
              </a:lnSpc>
            </a:pPr>
            <a:r>
              <a:rPr sz="1600" b="1">
                <a:solidFill>
                  <a:srgbClr val="0070F2"/>
                </a:solidFill>
                <a:latin typeface="Arial"/>
              </a:rPr>
              <a:t>IMAGE</a:t>
            </a:r>
          </a:p>
        </p:txBody>
      </p:sp>
      <p:sp>
        <p:nvSpPr>
          <p:cNvPr id="15" name="TextBox 14"/>
          <p:cNvSpPr txBox="1"/>
          <p:nvPr/>
        </p:nvSpPr>
        <p:spPr>
          <a:xfrm>
            <a:off x="4425696" y="4315968"/>
            <a:ext cx="1664208" cy="640080"/>
          </a:xfrm>
          <a:prstGeom prst="rect">
            <a:avLst/>
          </a:prstGeom>
          <a:noFill/>
        </p:spPr>
        <p:txBody>
          <a:bodyPr wrap="square" anchor="t">
            <a:spAutoFit/>
          </a:bodyPr>
          <a:lstStyle/>
          <a:p>
            <a:pPr algn="ctr">
              <a:lnSpc>
                <a:spcPct val="100000"/>
              </a:lnSpc>
            </a:pPr>
            <a:r>
              <a:rPr sz="1200" b="0">
                <a:solidFill>
                  <a:srgbClr val="556B82"/>
                </a:solidFill>
                <a:latin typeface="Arial"/>
              </a:rPr>
              <a:t>figures, charts</a:t>
            </a:r>
          </a:p>
        </p:txBody>
      </p:sp>
      <p:sp>
        <p:nvSpPr>
          <p:cNvPr id="16" name="Rectangle 15"/>
          <p:cNvSpPr/>
          <p:nvPr/>
        </p:nvSpPr>
        <p:spPr>
          <a:xfrm>
            <a:off x="6272784" y="3657600"/>
            <a:ext cx="1664208" cy="1371600"/>
          </a:xfrm>
          <a:prstGeom prst="rect">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72784" y="3822191"/>
            <a:ext cx="1664208" cy="457200"/>
          </a:xfrm>
          <a:prstGeom prst="rect">
            <a:avLst/>
          </a:prstGeom>
          <a:noFill/>
        </p:spPr>
        <p:txBody>
          <a:bodyPr wrap="square" anchor="t">
            <a:spAutoFit/>
          </a:bodyPr>
          <a:lstStyle/>
          <a:p>
            <a:pPr algn="ctr">
              <a:lnSpc>
                <a:spcPct val="100000"/>
              </a:lnSpc>
            </a:pPr>
            <a:r>
              <a:rPr sz="1600" b="1">
                <a:solidFill>
                  <a:srgbClr val="0070F2"/>
                </a:solidFill>
                <a:latin typeface="Arial"/>
              </a:rPr>
              <a:t>FORMULA</a:t>
            </a:r>
          </a:p>
        </p:txBody>
      </p:sp>
      <p:sp>
        <p:nvSpPr>
          <p:cNvPr id="18" name="TextBox 17"/>
          <p:cNvSpPr txBox="1"/>
          <p:nvPr/>
        </p:nvSpPr>
        <p:spPr>
          <a:xfrm>
            <a:off x="6272784" y="4315968"/>
            <a:ext cx="1664208" cy="640080"/>
          </a:xfrm>
          <a:prstGeom prst="rect">
            <a:avLst/>
          </a:prstGeom>
          <a:noFill/>
        </p:spPr>
        <p:txBody>
          <a:bodyPr wrap="square" anchor="t">
            <a:spAutoFit/>
          </a:bodyPr>
          <a:lstStyle/>
          <a:p>
            <a:pPr algn="ctr">
              <a:lnSpc>
                <a:spcPct val="100000"/>
              </a:lnSpc>
            </a:pPr>
            <a:r>
              <a:rPr sz="1200" b="0">
                <a:solidFill>
                  <a:srgbClr val="556B82"/>
                </a:solidFill>
                <a:latin typeface="Arial"/>
              </a:rPr>
              <a:t>dense math</a:t>
            </a:r>
          </a:p>
        </p:txBody>
      </p:sp>
      <p:sp>
        <p:nvSpPr>
          <p:cNvPr id="19" name="Rectangle 18"/>
          <p:cNvSpPr/>
          <p:nvPr/>
        </p:nvSpPr>
        <p:spPr>
          <a:xfrm>
            <a:off x="8119872" y="3657600"/>
            <a:ext cx="1664208" cy="1371600"/>
          </a:xfrm>
          <a:prstGeom prst="rect">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19872" y="3822191"/>
            <a:ext cx="1664208" cy="457200"/>
          </a:xfrm>
          <a:prstGeom prst="rect">
            <a:avLst/>
          </a:prstGeom>
          <a:noFill/>
        </p:spPr>
        <p:txBody>
          <a:bodyPr wrap="square" anchor="t">
            <a:spAutoFit/>
          </a:bodyPr>
          <a:lstStyle/>
          <a:p>
            <a:pPr algn="ctr">
              <a:lnSpc>
                <a:spcPct val="100000"/>
              </a:lnSpc>
            </a:pPr>
            <a:r>
              <a:rPr sz="1600" b="1">
                <a:solidFill>
                  <a:srgbClr val="556B82"/>
                </a:solidFill>
                <a:latin typeface="Arial"/>
              </a:rPr>
              <a:t>MIXED</a:t>
            </a:r>
          </a:p>
        </p:txBody>
      </p:sp>
      <p:sp>
        <p:nvSpPr>
          <p:cNvPr id="21" name="TextBox 20"/>
          <p:cNvSpPr txBox="1"/>
          <p:nvPr/>
        </p:nvSpPr>
        <p:spPr>
          <a:xfrm>
            <a:off x="8119872" y="4315968"/>
            <a:ext cx="1664208" cy="640080"/>
          </a:xfrm>
          <a:prstGeom prst="rect">
            <a:avLst/>
          </a:prstGeom>
          <a:noFill/>
        </p:spPr>
        <p:txBody>
          <a:bodyPr wrap="square" anchor="t">
            <a:spAutoFit/>
          </a:bodyPr>
          <a:lstStyle/>
          <a:p>
            <a:pPr algn="ctr">
              <a:lnSpc>
                <a:spcPct val="100000"/>
              </a:lnSpc>
            </a:pPr>
            <a:r>
              <a:rPr sz="1200" b="0">
                <a:solidFill>
                  <a:srgbClr val="556B82"/>
                </a:solidFill>
                <a:latin typeface="Arial"/>
              </a:rPr>
              <a:t>a bit of everything</a:t>
            </a:r>
          </a:p>
        </p:txBody>
      </p:sp>
      <p:sp>
        <p:nvSpPr>
          <p:cNvPr id="22" name="Rectangle 21"/>
          <p:cNvSpPr/>
          <p:nvPr/>
        </p:nvSpPr>
        <p:spPr>
          <a:xfrm>
            <a:off x="9966960" y="3657600"/>
            <a:ext cx="1664208" cy="1371600"/>
          </a:xfrm>
          <a:prstGeom prst="rect">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966960" y="3822191"/>
            <a:ext cx="1664208" cy="457200"/>
          </a:xfrm>
          <a:prstGeom prst="rect">
            <a:avLst/>
          </a:prstGeom>
          <a:noFill/>
        </p:spPr>
        <p:txBody>
          <a:bodyPr wrap="square" anchor="t">
            <a:spAutoFit/>
          </a:bodyPr>
          <a:lstStyle/>
          <a:p>
            <a:pPr algn="ctr">
              <a:lnSpc>
                <a:spcPct val="100000"/>
              </a:lnSpc>
            </a:pPr>
            <a:r>
              <a:rPr sz="1600" b="1">
                <a:solidFill>
                  <a:srgbClr val="556B82"/>
                </a:solidFill>
                <a:latin typeface="Arial"/>
              </a:rPr>
              <a:t>EMPTY</a:t>
            </a:r>
          </a:p>
        </p:txBody>
      </p:sp>
      <p:sp>
        <p:nvSpPr>
          <p:cNvPr id="24" name="TextBox 23"/>
          <p:cNvSpPr txBox="1"/>
          <p:nvPr/>
        </p:nvSpPr>
        <p:spPr>
          <a:xfrm>
            <a:off x="9966960" y="4315968"/>
            <a:ext cx="1664208" cy="640080"/>
          </a:xfrm>
          <a:prstGeom prst="rect">
            <a:avLst/>
          </a:prstGeom>
          <a:noFill/>
        </p:spPr>
        <p:txBody>
          <a:bodyPr wrap="square" anchor="t">
            <a:spAutoFit/>
          </a:bodyPr>
          <a:lstStyle/>
          <a:p>
            <a:pPr algn="ctr">
              <a:lnSpc>
                <a:spcPct val="100000"/>
              </a:lnSpc>
            </a:pPr>
            <a:r>
              <a:rPr sz="1200" b="0">
                <a:solidFill>
                  <a:srgbClr val="556B82"/>
                </a:solidFill>
                <a:latin typeface="Arial"/>
              </a:rPr>
              <a:t>nothing to do</a:t>
            </a:r>
          </a:p>
        </p:txBody>
      </p:sp>
      <p:sp>
        <p:nvSpPr>
          <p:cNvPr id="25" name="TextBox 24"/>
          <p:cNvSpPr txBox="1"/>
          <p:nvPr/>
        </p:nvSpPr>
        <p:spPr>
          <a:xfrm>
            <a:off x="731520" y="5394960"/>
            <a:ext cx="10881360" cy="914400"/>
          </a:xfrm>
          <a:prstGeom prst="rect">
            <a:avLst/>
          </a:prstGeom>
          <a:noFill/>
        </p:spPr>
        <p:txBody>
          <a:bodyPr wrap="square" anchor="t">
            <a:spAutoFit/>
          </a:bodyPr>
          <a:lstStyle/>
          <a:p>
            <a:pPr algn="l">
              <a:lnSpc>
                <a:spcPct val="115000"/>
              </a:lnSpc>
            </a:pPr>
            <a:r>
              <a:rPr sz="1700" b="0">
                <a:solidFill>
                  <a:srgbClr val="223348"/>
                </a:solidFill>
                <a:latin typeface="Arial"/>
              </a:rPr>
              <a:t>Plain text pages skip the AI model entirely — fast and exact.</a:t>
            </a:r>
          </a:p>
          <a:p>
            <a:pPr algn="l">
              <a:lnSpc>
                <a:spcPct val="115000"/>
              </a:lnSpc>
            </a:pPr>
            <a:r>
              <a:rPr sz="1700" b="0">
                <a:solidFill>
                  <a:srgbClr val="223348"/>
                </a:solidFill>
                <a:latin typeface="Arial"/>
              </a:rPr>
              <a:t>Visually complex pages go to a vision-language model that can actually see the layout.</a:t>
            </a:r>
          </a:p>
        </p:txBody>
      </p:sp>
      <p:sp>
        <p:nvSpPr>
          <p:cNvPr id="26" name="TextBox 25"/>
          <p:cNvSpPr txBox="1"/>
          <p:nvPr/>
        </p:nvSpPr>
        <p:spPr>
          <a:xfrm>
            <a:off x="11475720" y="6473952"/>
            <a:ext cx="548640" cy="274320"/>
          </a:xfrm>
          <a:prstGeom prst="rect">
            <a:avLst/>
          </a:prstGeom>
          <a:noFill/>
        </p:spPr>
        <p:txBody>
          <a:bodyPr wrap="square" anchor="t">
            <a:spAutoFit/>
          </a:bodyPr>
          <a:lstStyle/>
          <a:p>
            <a:pPr algn="r">
              <a:lnSpc>
                <a:spcPct val="100000"/>
              </a:lnSpc>
            </a:pPr>
            <a:r>
              <a:rPr sz="1000" b="0">
                <a:solidFill>
                  <a:srgbClr val="556B82"/>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82296" cy="47548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10881360" cy="640080"/>
          </a:xfrm>
          <a:prstGeom prst="rect">
            <a:avLst/>
          </a:prstGeom>
          <a:noFill/>
        </p:spPr>
        <p:txBody>
          <a:bodyPr wrap="square" anchor="t">
            <a:spAutoFit/>
          </a:bodyPr>
          <a:lstStyle/>
          <a:p>
            <a:pPr algn="l">
              <a:lnSpc>
                <a:spcPct val="100000"/>
              </a:lnSpc>
            </a:pPr>
            <a:r>
              <a:rPr sz="2700" b="1">
                <a:solidFill>
                  <a:srgbClr val="12293F"/>
                </a:solidFill>
                <a:latin typeface="Arial"/>
              </a:rPr>
              <a:t>How it works</a:t>
            </a:r>
          </a:p>
        </p:txBody>
      </p:sp>
      <p:sp>
        <p:nvSpPr>
          <p:cNvPr id="4" name="TextBox 3"/>
          <p:cNvSpPr txBox="1"/>
          <p:nvPr/>
        </p:nvSpPr>
        <p:spPr>
          <a:xfrm>
            <a:off x="731520" y="868680"/>
            <a:ext cx="10881360" cy="365760"/>
          </a:xfrm>
          <a:prstGeom prst="rect">
            <a:avLst/>
          </a:prstGeom>
          <a:noFill/>
        </p:spPr>
        <p:txBody>
          <a:bodyPr wrap="square" anchor="t">
            <a:spAutoFit/>
          </a:bodyPr>
          <a:lstStyle/>
          <a:p>
            <a:pPr algn="l">
              <a:lnSpc>
                <a:spcPct val="100000"/>
              </a:lnSpc>
            </a:pPr>
            <a:r>
              <a:rPr sz="1300" b="0">
                <a:solidFill>
                  <a:srgbClr val="556B82"/>
                </a:solidFill>
                <a:latin typeface="Arial"/>
              </a:rPr>
              <a:t>From PDF to Markdown in four steps</a:t>
            </a:r>
          </a:p>
        </p:txBody>
      </p:sp>
      <p:sp>
        <p:nvSpPr>
          <p:cNvPr id="5" name="Rectangle 4"/>
          <p:cNvSpPr/>
          <p:nvPr/>
        </p:nvSpPr>
        <p:spPr>
          <a:xfrm>
            <a:off x="502920" y="1234440"/>
            <a:ext cx="11183112" cy="20320"/>
          </a:xfrm>
          <a:prstGeom prst="rect">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920240"/>
            <a:ext cx="1554480" cy="1600200"/>
          </a:xfrm>
          <a:prstGeom prst="rect">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029968"/>
            <a:ext cx="1371600" cy="457200"/>
          </a:xfrm>
          <a:prstGeom prst="rect">
            <a:avLst/>
          </a:prstGeom>
          <a:noFill/>
        </p:spPr>
        <p:txBody>
          <a:bodyPr wrap="square" anchor="t">
            <a:spAutoFit/>
          </a:bodyPr>
          <a:lstStyle/>
          <a:p>
            <a:pPr algn="ctr">
              <a:lnSpc>
                <a:spcPct val="100000"/>
              </a:lnSpc>
            </a:pPr>
            <a:r>
              <a:rPr sz="1600" b="1">
                <a:solidFill>
                  <a:srgbClr val="12293F"/>
                </a:solidFill>
                <a:latin typeface="Arial"/>
              </a:rPr>
              <a:t>PDF</a:t>
            </a:r>
          </a:p>
        </p:txBody>
      </p:sp>
      <p:sp>
        <p:nvSpPr>
          <p:cNvPr id="8" name="TextBox 7"/>
          <p:cNvSpPr txBox="1"/>
          <p:nvPr/>
        </p:nvSpPr>
        <p:spPr>
          <a:xfrm>
            <a:off x="640080" y="2487168"/>
            <a:ext cx="1371600" cy="960120"/>
          </a:xfrm>
          <a:prstGeom prst="rect">
            <a:avLst/>
          </a:prstGeom>
          <a:noFill/>
        </p:spPr>
        <p:txBody>
          <a:bodyPr wrap="square" anchor="t">
            <a:spAutoFit/>
          </a:bodyPr>
          <a:lstStyle/>
          <a:p>
            <a:pPr algn="ctr">
              <a:lnSpc>
                <a:spcPct val="105000"/>
              </a:lnSpc>
            </a:pPr>
            <a:r>
              <a:rPr sz="1200" b="0">
                <a:solidFill>
                  <a:srgbClr val="556B82"/>
                </a:solidFill>
                <a:latin typeface="Arial"/>
              </a:rPr>
              <a:t>one page</a:t>
            </a:r>
          </a:p>
          <a:p>
            <a:pPr algn="ctr">
              <a:lnSpc>
                <a:spcPct val="105000"/>
              </a:lnSpc>
            </a:pPr>
            <a:r>
              <a:rPr sz="1200" b="0">
                <a:solidFill>
                  <a:srgbClr val="556B82"/>
                </a:solidFill>
                <a:latin typeface="Arial"/>
              </a:rPr>
              <a:t>at a time</a:t>
            </a:r>
          </a:p>
        </p:txBody>
      </p:sp>
      <p:sp>
        <p:nvSpPr>
          <p:cNvPr id="9" name="Right Arrow 8"/>
          <p:cNvSpPr/>
          <p:nvPr/>
        </p:nvSpPr>
        <p:spPr>
          <a:xfrm>
            <a:off x="2194560" y="2560320"/>
            <a:ext cx="384048" cy="292608"/>
          </a:xfrm>
          <a:prstGeom prst="rightArrow">
            <a:avLst/>
          </a:prstGeom>
          <a:solidFill>
            <a:srgbClr val="007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697480" y="1920240"/>
            <a:ext cx="2011680" cy="1600200"/>
          </a:xfrm>
          <a:prstGeom prst="rect">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88920" y="2029968"/>
            <a:ext cx="1828800" cy="457200"/>
          </a:xfrm>
          <a:prstGeom prst="rect">
            <a:avLst/>
          </a:prstGeom>
          <a:noFill/>
        </p:spPr>
        <p:txBody>
          <a:bodyPr wrap="square" anchor="t">
            <a:spAutoFit/>
          </a:bodyPr>
          <a:lstStyle/>
          <a:p>
            <a:pPr algn="ctr">
              <a:lnSpc>
                <a:spcPct val="100000"/>
              </a:lnSpc>
            </a:pPr>
            <a:r>
              <a:rPr sz="1600" b="1">
                <a:solidFill>
                  <a:srgbClr val="12293F"/>
                </a:solidFill>
                <a:latin typeface="Arial"/>
              </a:rPr>
              <a:t>Classify</a:t>
            </a:r>
          </a:p>
        </p:txBody>
      </p:sp>
      <p:sp>
        <p:nvSpPr>
          <p:cNvPr id="12" name="TextBox 11"/>
          <p:cNvSpPr txBox="1"/>
          <p:nvPr/>
        </p:nvSpPr>
        <p:spPr>
          <a:xfrm>
            <a:off x="2788920" y="2487168"/>
            <a:ext cx="1828800" cy="960120"/>
          </a:xfrm>
          <a:prstGeom prst="rect">
            <a:avLst/>
          </a:prstGeom>
          <a:noFill/>
        </p:spPr>
        <p:txBody>
          <a:bodyPr wrap="square" anchor="t">
            <a:spAutoFit/>
          </a:bodyPr>
          <a:lstStyle/>
          <a:p>
            <a:pPr algn="ctr">
              <a:lnSpc>
                <a:spcPct val="105000"/>
              </a:lnSpc>
            </a:pPr>
            <a:r>
              <a:rPr sz="1200" b="0">
                <a:solidFill>
                  <a:srgbClr val="556B82"/>
                </a:solidFill>
                <a:latin typeface="Arial"/>
              </a:rPr>
              <a:t>six page types,</a:t>
            </a:r>
          </a:p>
          <a:p>
            <a:pPr algn="ctr">
              <a:lnSpc>
                <a:spcPct val="105000"/>
              </a:lnSpc>
            </a:pPr>
            <a:r>
              <a:rPr sz="1200" b="0">
                <a:solidFill>
                  <a:srgbClr val="556B82"/>
                </a:solidFill>
                <a:latin typeface="Arial"/>
              </a:rPr>
              <a:t>rule-based,</a:t>
            </a:r>
          </a:p>
          <a:p>
            <a:pPr algn="ctr">
              <a:lnSpc>
                <a:spcPct val="105000"/>
              </a:lnSpc>
            </a:pPr>
            <a:r>
              <a:rPr sz="1200" b="0">
                <a:solidFill>
                  <a:srgbClr val="556B82"/>
                </a:solidFill>
                <a:latin typeface="Arial"/>
              </a:rPr>
              <a:t>&lt; 1 ms per page</a:t>
            </a:r>
          </a:p>
        </p:txBody>
      </p:sp>
      <p:sp>
        <p:nvSpPr>
          <p:cNvPr id="13" name="Right Arrow 12"/>
          <p:cNvSpPr/>
          <p:nvPr/>
        </p:nvSpPr>
        <p:spPr>
          <a:xfrm>
            <a:off x="4800600" y="2560320"/>
            <a:ext cx="384048" cy="292608"/>
          </a:xfrm>
          <a:prstGeom prst="rightArrow">
            <a:avLst/>
          </a:prstGeom>
          <a:solidFill>
            <a:srgbClr val="007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303520" y="1417320"/>
            <a:ext cx="2651760" cy="1143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94960" y="1527048"/>
            <a:ext cx="2468880" cy="457200"/>
          </a:xfrm>
          <a:prstGeom prst="rect">
            <a:avLst/>
          </a:prstGeom>
          <a:noFill/>
        </p:spPr>
        <p:txBody>
          <a:bodyPr wrap="square" anchor="t">
            <a:spAutoFit/>
          </a:bodyPr>
          <a:lstStyle/>
          <a:p>
            <a:pPr algn="ctr">
              <a:lnSpc>
                <a:spcPct val="100000"/>
              </a:lnSpc>
            </a:pPr>
            <a:r>
              <a:rPr sz="1600" b="1">
                <a:solidFill>
                  <a:srgbClr val="188A4E"/>
                </a:solidFill>
                <a:latin typeface="Arial"/>
              </a:rPr>
              <a:t>Text path</a:t>
            </a:r>
          </a:p>
        </p:txBody>
      </p:sp>
      <p:sp>
        <p:nvSpPr>
          <p:cNvPr id="16" name="TextBox 15"/>
          <p:cNvSpPr txBox="1"/>
          <p:nvPr/>
        </p:nvSpPr>
        <p:spPr>
          <a:xfrm>
            <a:off x="5394960" y="1984248"/>
            <a:ext cx="2468880" cy="502920"/>
          </a:xfrm>
          <a:prstGeom prst="rect">
            <a:avLst/>
          </a:prstGeom>
          <a:noFill/>
        </p:spPr>
        <p:txBody>
          <a:bodyPr wrap="square" anchor="t">
            <a:spAutoFit/>
          </a:bodyPr>
          <a:lstStyle/>
          <a:p>
            <a:pPr algn="ctr">
              <a:lnSpc>
                <a:spcPct val="105000"/>
              </a:lnSpc>
            </a:pPr>
            <a:r>
              <a:rPr sz="1200" b="0">
                <a:solidFill>
                  <a:srgbClr val="556B82"/>
                </a:solidFill>
                <a:latin typeface="Arial"/>
              </a:rPr>
              <a:t>direct extraction — no AI call</a:t>
            </a:r>
          </a:p>
        </p:txBody>
      </p:sp>
      <p:sp>
        <p:nvSpPr>
          <p:cNvPr id="17" name="Rectangle 16"/>
          <p:cNvSpPr/>
          <p:nvPr/>
        </p:nvSpPr>
        <p:spPr>
          <a:xfrm>
            <a:off x="5303520" y="2743200"/>
            <a:ext cx="2651760" cy="1143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94960" y="2852928"/>
            <a:ext cx="2468880" cy="457200"/>
          </a:xfrm>
          <a:prstGeom prst="rect">
            <a:avLst/>
          </a:prstGeom>
          <a:noFill/>
        </p:spPr>
        <p:txBody>
          <a:bodyPr wrap="square" anchor="t">
            <a:spAutoFit/>
          </a:bodyPr>
          <a:lstStyle/>
          <a:p>
            <a:pPr algn="ctr">
              <a:lnSpc>
                <a:spcPct val="100000"/>
              </a:lnSpc>
            </a:pPr>
            <a:r>
              <a:rPr sz="1600" b="1">
                <a:solidFill>
                  <a:srgbClr val="0070F2"/>
                </a:solidFill>
                <a:latin typeface="Arial"/>
              </a:rPr>
              <a:t>Vision path</a:t>
            </a:r>
          </a:p>
        </p:txBody>
      </p:sp>
      <p:sp>
        <p:nvSpPr>
          <p:cNvPr id="19" name="TextBox 18"/>
          <p:cNvSpPr txBox="1"/>
          <p:nvPr/>
        </p:nvSpPr>
        <p:spPr>
          <a:xfrm>
            <a:off x="5394960" y="3310128"/>
            <a:ext cx="2468880" cy="502920"/>
          </a:xfrm>
          <a:prstGeom prst="rect">
            <a:avLst/>
          </a:prstGeom>
          <a:noFill/>
        </p:spPr>
        <p:txBody>
          <a:bodyPr wrap="square" anchor="t">
            <a:spAutoFit/>
          </a:bodyPr>
          <a:lstStyle/>
          <a:p>
            <a:pPr algn="ctr">
              <a:lnSpc>
                <a:spcPct val="105000"/>
              </a:lnSpc>
            </a:pPr>
            <a:r>
              <a:rPr sz="1200" b="0">
                <a:solidFill>
                  <a:srgbClr val="556B82"/>
                </a:solidFill>
                <a:latin typeface="Arial"/>
              </a:rPr>
              <a:t>page image → local AI model</a:t>
            </a:r>
          </a:p>
        </p:txBody>
      </p:sp>
      <p:sp>
        <p:nvSpPr>
          <p:cNvPr id="20" name="Right Arrow 19"/>
          <p:cNvSpPr/>
          <p:nvPr/>
        </p:nvSpPr>
        <p:spPr>
          <a:xfrm>
            <a:off x="8046720" y="2560320"/>
            <a:ext cx="384048" cy="292608"/>
          </a:xfrm>
          <a:prstGeom prst="rightArrow">
            <a:avLst/>
          </a:prstGeom>
          <a:solidFill>
            <a:srgbClr val="007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549640" y="1920240"/>
            <a:ext cx="1920240" cy="1600200"/>
          </a:xfrm>
          <a:prstGeom prst="rect">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41080" y="2029968"/>
            <a:ext cx="1737360" cy="457200"/>
          </a:xfrm>
          <a:prstGeom prst="rect">
            <a:avLst/>
          </a:prstGeom>
          <a:noFill/>
        </p:spPr>
        <p:txBody>
          <a:bodyPr wrap="square" anchor="t">
            <a:spAutoFit/>
          </a:bodyPr>
          <a:lstStyle/>
          <a:p>
            <a:pPr algn="ctr">
              <a:lnSpc>
                <a:spcPct val="100000"/>
              </a:lnSpc>
            </a:pPr>
            <a:r>
              <a:rPr sz="1600" b="1">
                <a:solidFill>
                  <a:srgbClr val="12293F"/>
                </a:solidFill>
                <a:latin typeface="Arial"/>
              </a:rPr>
              <a:t>Clean-up</a:t>
            </a:r>
          </a:p>
        </p:txBody>
      </p:sp>
      <p:sp>
        <p:nvSpPr>
          <p:cNvPr id="23" name="TextBox 22"/>
          <p:cNvSpPr txBox="1"/>
          <p:nvPr/>
        </p:nvSpPr>
        <p:spPr>
          <a:xfrm>
            <a:off x="8641080" y="2487168"/>
            <a:ext cx="1737360" cy="960120"/>
          </a:xfrm>
          <a:prstGeom prst="rect">
            <a:avLst/>
          </a:prstGeom>
          <a:noFill/>
        </p:spPr>
        <p:txBody>
          <a:bodyPr wrap="square" anchor="t">
            <a:spAutoFit/>
          </a:bodyPr>
          <a:lstStyle/>
          <a:p>
            <a:pPr algn="ctr">
              <a:lnSpc>
                <a:spcPct val="105000"/>
              </a:lnSpc>
            </a:pPr>
            <a:r>
              <a:rPr sz="1200" b="0">
                <a:solidFill>
                  <a:srgbClr val="556B82"/>
                </a:solidFill>
                <a:latin typeface="Arial"/>
              </a:rPr>
              <a:t>49 automated</a:t>
            </a:r>
          </a:p>
          <a:p>
            <a:pPr algn="ctr">
              <a:lnSpc>
                <a:spcPct val="105000"/>
              </a:lnSpc>
            </a:pPr>
            <a:r>
              <a:rPr sz="1200" b="0">
                <a:solidFill>
                  <a:srgbClr val="556B82"/>
                </a:solidFill>
                <a:latin typeface="Arial"/>
              </a:rPr>
              <a:t>repair passes</a:t>
            </a:r>
          </a:p>
        </p:txBody>
      </p:sp>
      <p:sp>
        <p:nvSpPr>
          <p:cNvPr id="24" name="Right Arrow 23"/>
          <p:cNvSpPr/>
          <p:nvPr/>
        </p:nvSpPr>
        <p:spPr>
          <a:xfrm>
            <a:off x="10561320" y="2560320"/>
            <a:ext cx="384048" cy="292608"/>
          </a:xfrm>
          <a:prstGeom prst="rightArrow">
            <a:avLst/>
          </a:prstGeom>
          <a:solidFill>
            <a:srgbClr val="007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1018520" y="1920240"/>
            <a:ext cx="1051560" cy="1600200"/>
          </a:xfrm>
          <a:prstGeom prst="rect">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109960" y="2029968"/>
            <a:ext cx="868680" cy="457200"/>
          </a:xfrm>
          <a:prstGeom prst="rect">
            <a:avLst/>
          </a:prstGeom>
          <a:noFill/>
        </p:spPr>
        <p:txBody>
          <a:bodyPr wrap="square" anchor="t">
            <a:spAutoFit/>
          </a:bodyPr>
          <a:lstStyle/>
          <a:p>
            <a:pPr algn="ctr">
              <a:lnSpc>
                <a:spcPct val="100000"/>
              </a:lnSpc>
            </a:pPr>
            <a:r>
              <a:rPr sz="1600" b="1">
                <a:solidFill>
                  <a:srgbClr val="12293F"/>
                </a:solidFill>
                <a:latin typeface="Arial"/>
              </a:rPr>
              <a:t>MD</a:t>
            </a:r>
          </a:p>
        </p:txBody>
      </p:sp>
      <p:sp>
        <p:nvSpPr>
          <p:cNvPr id="27" name="TextBox 26"/>
          <p:cNvSpPr txBox="1"/>
          <p:nvPr/>
        </p:nvSpPr>
        <p:spPr>
          <a:xfrm>
            <a:off x="11109960" y="2487168"/>
            <a:ext cx="868680" cy="960120"/>
          </a:xfrm>
          <a:prstGeom prst="rect">
            <a:avLst/>
          </a:prstGeom>
          <a:noFill/>
        </p:spPr>
        <p:txBody>
          <a:bodyPr wrap="square" anchor="t">
            <a:spAutoFit/>
          </a:bodyPr>
          <a:lstStyle/>
          <a:p>
            <a:pPr algn="ctr">
              <a:lnSpc>
                <a:spcPct val="105000"/>
              </a:lnSpc>
            </a:pPr>
            <a:r>
              <a:rPr sz="1200" b="0">
                <a:solidFill>
                  <a:srgbClr val="556B82"/>
                </a:solidFill>
                <a:latin typeface="Arial"/>
              </a:rPr>
              <a:t>clean</a:t>
            </a:r>
          </a:p>
          <a:p>
            <a:pPr algn="ctr">
              <a:lnSpc>
                <a:spcPct val="105000"/>
              </a:lnSpc>
            </a:pPr>
            <a:r>
              <a:rPr sz="1200" b="0">
                <a:solidFill>
                  <a:srgbClr val="556B82"/>
                </a:solidFill>
                <a:latin typeface="Arial"/>
              </a:rPr>
              <a:t>Markdown</a:t>
            </a:r>
          </a:p>
        </p:txBody>
      </p:sp>
      <p:sp>
        <p:nvSpPr>
          <p:cNvPr id="28" name="TextBox 27"/>
          <p:cNvSpPr txBox="1"/>
          <p:nvPr/>
        </p:nvSpPr>
        <p:spPr>
          <a:xfrm>
            <a:off x="731520" y="4206240"/>
            <a:ext cx="10881360" cy="2011680"/>
          </a:xfrm>
          <a:prstGeom prst="rect">
            <a:avLst/>
          </a:prstGeom>
          <a:noFill/>
        </p:spPr>
        <p:txBody>
          <a:bodyPr wrap="square">
            <a:spAutoFit/>
          </a:bodyPr>
          <a:lstStyle/>
          <a:p>
            <a:pPr>
              <a:lnSpc>
                <a:spcPct val="105000"/>
              </a:lnSpc>
              <a:spcAft>
                <a:spcPts val="600"/>
              </a:spcAft>
            </a:pPr>
            <a:r>
              <a:rPr sz="1700" b="0">
                <a:solidFill>
                  <a:srgbClr val="223348"/>
                </a:solidFill>
                <a:latin typeface="Arial"/>
              </a:rPr>
              <a:t>The AI model runs on our own hardware via LM Studio — no cloud API, no data leaves the machine</a:t>
            </a:r>
          </a:p>
          <a:p>
            <a:pPr>
              <a:lnSpc>
                <a:spcPct val="105000"/>
              </a:lnSpc>
              <a:spcAft>
                <a:spcPts val="600"/>
              </a:spcAft>
            </a:pPr>
            <a:r>
              <a:rPr sz="1700" b="0">
                <a:solidFill>
                  <a:srgbClr val="223348"/>
                </a:solidFill>
                <a:latin typeface="Arial"/>
              </a:rPr>
              <a:t>Tables get a smart shortcut: if the text extractor already got the table right, skip the AI call</a:t>
            </a:r>
          </a:p>
          <a:p>
            <a:pPr>
              <a:lnSpc>
                <a:spcPct val="105000"/>
              </a:lnSpc>
              <a:spcAft>
                <a:spcPts val="600"/>
              </a:spcAft>
            </a:pPr>
            <a:r>
              <a:rPr sz="1700" b="0">
                <a:solidFill>
                  <a:srgbClr val="223348"/>
                </a:solidFill>
                <a:latin typeface="Arial"/>
              </a:rPr>
              <a:t>The clean-up stage fixes what both paths get wrong: broken headings, split tables, mangled code listings</a:t>
            </a:r>
          </a:p>
        </p:txBody>
      </p:sp>
      <p:sp>
        <p:nvSpPr>
          <p:cNvPr id="29" name="TextBox 28"/>
          <p:cNvSpPr txBox="1"/>
          <p:nvPr/>
        </p:nvSpPr>
        <p:spPr>
          <a:xfrm>
            <a:off x="11475720" y="6473952"/>
            <a:ext cx="548640" cy="274320"/>
          </a:xfrm>
          <a:prstGeom prst="rect">
            <a:avLst/>
          </a:prstGeom>
          <a:noFill/>
        </p:spPr>
        <p:txBody>
          <a:bodyPr wrap="square" anchor="t">
            <a:spAutoFit/>
          </a:bodyPr>
          <a:lstStyle/>
          <a:p>
            <a:pPr algn="r">
              <a:lnSpc>
                <a:spcPct val="100000"/>
              </a:lnSpc>
            </a:pPr>
            <a:r>
              <a:rPr sz="1000" b="0">
                <a:solidFill>
                  <a:srgbClr val="556B82"/>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82296" cy="47548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10881360" cy="640080"/>
          </a:xfrm>
          <a:prstGeom prst="rect">
            <a:avLst/>
          </a:prstGeom>
          <a:noFill/>
        </p:spPr>
        <p:txBody>
          <a:bodyPr wrap="square" anchor="t">
            <a:spAutoFit/>
          </a:bodyPr>
          <a:lstStyle/>
          <a:p>
            <a:pPr algn="l">
              <a:lnSpc>
                <a:spcPct val="100000"/>
              </a:lnSpc>
            </a:pPr>
            <a:r>
              <a:rPr sz="2700" b="1">
                <a:solidFill>
                  <a:srgbClr val="12293F"/>
                </a:solidFill>
                <a:latin typeface="Arial"/>
              </a:rPr>
              <a:t>Did it work? The experiment</a:t>
            </a:r>
          </a:p>
        </p:txBody>
      </p:sp>
      <p:sp>
        <p:nvSpPr>
          <p:cNvPr id="4" name="TextBox 3"/>
          <p:cNvSpPr txBox="1"/>
          <p:nvPr/>
        </p:nvSpPr>
        <p:spPr>
          <a:xfrm>
            <a:off x="731520" y="868680"/>
            <a:ext cx="10881360" cy="365760"/>
          </a:xfrm>
          <a:prstGeom prst="rect">
            <a:avLst/>
          </a:prstGeom>
          <a:noFill/>
        </p:spPr>
        <p:txBody>
          <a:bodyPr wrap="square" anchor="t">
            <a:spAutoFit/>
          </a:bodyPr>
          <a:lstStyle/>
          <a:p>
            <a:pPr algn="l">
              <a:lnSpc>
                <a:spcPct val="100000"/>
              </a:lnSpc>
            </a:pPr>
            <a:r>
              <a:rPr sz="1300" b="0">
                <a:solidFill>
                  <a:srgbClr val="556B82"/>
                </a:solidFill>
                <a:latin typeface="Arial"/>
              </a:rPr>
              <a:t>Measuring quality honestly</a:t>
            </a:r>
          </a:p>
        </p:txBody>
      </p:sp>
      <p:sp>
        <p:nvSpPr>
          <p:cNvPr id="5" name="Rectangle 4"/>
          <p:cNvSpPr/>
          <p:nvPr/>
        </p:nvSpPr>
        <p:spPr>
          <a:xfrm>
            <a:off x="502920" y="1234440"/>
            <a:ext cx="11183112" cy="20320"/>
          </a:xfrm>
          <a:prstGeom prst="rect">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2011680" cy="1463040"/>
          </a:xfrm>
          <a:prstGeom prst="rect">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783080"/>
            <a:ext cx="2011680" cy="731520"/>
          </a:xfrm>
          <a:prstGeom prst="rect">
            <a:avLst/>
          </a:prstGeom>
          <a:noFill/>
        </p:spPr>
        <p:txBody>
          <a:bodyPr wrap="square" anchor="t">
            <a:spAutoFit/>
          </a:bodyPr>
          <a:lstStyle/>
          <a:p>
            <a:pPr algn="ctr">
              <a:lnSpc>
                <a:spcPct val="100000"/>
              </a:lnSpc>
            </a:pPr>
            <a:r>
              <a:rPr sz="3400" b="1">
                <a:solidFill>
                  <a:srgbClr val="0070F2"/>
                </a:solidFill>
                <a:latin typeface="Arial"/>
              </a:rPr>
              <a:t>3</a:t>
            </a:r>
          </a:p>
        </p:txBody>
      </p:sp>
      <p:sp>
        <p:nvSpPr>
          <p:cNvPr id="8" name="TextBox 7"/>
          <p:cNvSpPr txBox="1"/>
          <p:nvPr/>
        </p:nvSpPr>
        <p:spPr>
          <a:xfrm>
            <a:off x="731520" y="2514600"/>
            <a:ext cx="2011680" cy="548640"/>
          </a:xfrm>
          <a:prstGeom prst="rect">
            <a:avLst/>
          </a:prstGeom>
          <a:noFill/>
        </p:spPr>
        <p:txBody>
          <a:bodyPr wrap="square" anchor="t">
            <a:spAutoFit/>
          </a:bodyPr>
          <a:lstStyle/>
          <a:p>
            <a:pPr algn="ctr">
              <a:lnSpc>
                <a:spcPct val="100000"/>
              </a:lnSpc>
            </a:pPr>
            <a:r>
              <a:rPr sz="1300" b="0">
                <a:solidFill>
                  <a:srgbClr val="556B82"/>
                </a:solidFill>
                <a:latin typeface="Arial"/>
              </a:rPr>
              <a:t>real thesis documents</a:t>
            </a:r>
          </a:p>
        </p:txBody>
      </p:sp>
      <p:sp>
        <p:nvSpPr>
          <p:cNvPr id="9" name="Rectangle 8"/>
          <p:cNvSpPr/>
          <p:nvPr/>
        </p:nvSpPr>
        <p:spPr>
          <a:xfrm>
            <a:off x="2971800" y="1645920"/>
            <a:ext cx="2011680" cy="1463040"/>
          </a:xfrm>
          <a:prstGeom prst="rect">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71800" y="1783080"/>
            <a:ext cx="2011680" cy="731520"/>
          </a:xfrm>
          <a:prstGeom prst="rect">
            <a:avLst/>
          </a:prstGeom>
          <a:noFill/>
        </p:spPr>
        <p:txBody>
          <a:bodyPr wrap="square" anchor="t">
            <a:spAutoFit/>
          </a:bodyPr>
          <a:lstStyle/>
          <a:p>
            <a:pPr algn="ctr">
              <a:lnSpc>
                <a:spcPct val="100000"/>
              </a:lnSpc>
            </a:pPr>
            <a:r>
              <a:rPr sz="3400" b="1">
                <a:solidFill>
                  <a:srgbClr val="0070F2"/>
                </a:solidFill>
                <a:latin typeface="Arial"/>
              </a:rPr>
              <a:t>90</a:t>
            </a:r>
          </a:p>
        </p:txBody>
      </p:sp>
      <p:sp>
        <p:nvSpPr>
          <p:cNvPr id="11" name="TextBox 10"/>
          <p:cNvSpPr txBox="1"/>
          <p:nvPr/>
        </p:nvSpPr>
        <p:spPr>
          <a:xfrm>
            <a:off x="2971800" y="2514600"/>
            <a:ext cx="2011680" cy="548640"/>
          </a:xfrm>
          <a:prstGeom prst="rect">
            <a:avLst/>
          </a:prstGeom>
          <a:noFill/>
        </p:spPr>
        <p:txBody>
          <a:bodyPr wrap="square" anchor="t">
            <a:spAutoFit/>
          </a:bodyPr>
          <a:lstStyle/>
          <a:p>
            <a:pPr algn="ctr">
              <a:lnSpc>
                <a:spcPct val="100000"/>
              </a:lnSpc>
            </a:pPr>
            <a:r>
              <a:rPr sz="1300" b="0">
                <a:solidFill>
                  <a:srgbClr val="556B82"/>
                </a:solidFill>
                <a:latin typeface="Arial"/>
              </a:rPr>
              <a:t>pages evaluated</a:t>
            </a:r>
          </a:p>
        </p:txBody>
      </p:sp>
      <p:sp>
        <p:nvSpPr>
          <p:cNvPr id="12" name="Rectangle 11"/>
          <p:cNvSpPr/>
          <p:nvPr/>
        </p:nvSpPr>
        <p:spPr>
          <a:xfrm>
            <a:off x="5212080" y="1645920"/>
            <a:ext cx="2011680" cy="1463040"/>
          </a:xfrm>
          <a:prstGeom prst="rect">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12080" y="1783080"/>
            <a:ext cx="2011680" cy="731520"/>
          </a:xfrm>
          <a:prstGeom prst="rect">
            <a:avLst/>
          </a:prstGeom>
          <a:noFill/>
        </p:spPr>
        <p:txBody>
          <a:bodyPr wrap="square" anchor="t">
            <a:spAutoFit/>
          </a:bodyPr>
          <a:lstStyle/>
          <a:p>
            <a:pPr algn="ctr">
              <a:lnSpc>
                <a:spcPct val="100000"/>
              </a:lnSpc>
            </a:pPr>
            <a:r>
              <a:rPr sz="3400" b="1">
                <a:solidFill>
                  <a:srgbClr val="0070F2"/>
                </a:solidFill>
                <a:latin typeface="Arial"/>
              </a:rPr>
              <a:t>4</a:t>
            </a:r>
          </a:p>
        </p:txBody>
      </p:sp>
      <p:sp>
        <p:nvSpPr>
          <p:cNvPr id="14" name="TextBox 13"/>
          <p:cNvSpPr txBox="1"/>
          <p:nvPr/>
        </p:nvSpPr>
        <p:spPr>
          <a:xfrm>
            <a:off x="5212080" y="2514600"/>
            <a:ext cx="2011680" cy="548640"/>
          </a:xfrm>
          <a:prstGeom prst="rect">
            <a:avLst/>
          </a:prstGeom>
          <a:noFill/>
        </p:spPr>
        <p:txBody>
          <a:bodyPr wrap="square" anchor="t">
            <a:spAutoFit/>
          </a:bodyPr>
          <a:lstStyle/>
          <a:p>
            <a:pPr algn="ctr">
              <a:lnSpc>
                <a:spcPct val="100000"/>
              </a:lnSpc>
            </a:pPr>
            <a:r>
              <a:rPr sz="1300" b="0">
                <a:solidFill>
                  <a:srgbClr val="556B82"/>
                </a:solidFill>
                <a:latin typeface="Arial"/>
              </a:rPr>
              <a:t>strategies compared</a:t>
            </a:r>
          </a:p>
        </p:txBody>
      </p:sp>
      <p:sp>
        <p:nvSpPr>
          <p:cNvPr id="15" name="Rectangle 14"/>
          <p:cNvSpPr/>
          <p:nvPr/>
        </p:nvSpPr>
        <p:spPr>
          <a:xfrm>
            <a:off x="7452360" y="1645920"/>
            <a:ext cx="2011680" cy="1463040"/>
          </a:xfrm>
          <a:prstGeom prst="rect">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52360" y="1783080"/>
            <a:ext cx="2011680" cy="731520"/>
          </a:xfrm>
          <a:prstGeom prst="rect">
            <a:avLst/>
          </a:prstGeom>
          <a:noFill/>
        </p:spPr>
        <p:txBody>
          <a:bodyPr wrap="square" anchor="t">
            <a:spAutoFit/>
          </a:bodyPr>
          <a:lstStyle/>
          <a:p>
            <a:pPr algn="ctr">
              <a:lnSpc>
                <a:spcPct val="100000"/>
              </a:lnSpc>
            </a:pPr>
            <a:r>
              <a:rPr sz="3400" b="1">
                <a:solidFill>
                  <a:srgbClr val="0070F2"/>
                </a:solidFill>
                <a:latin typeface="Arial"/>
              </a:rPr>
              <a:t>360</a:t>
            </a:r>
          </a:p>
        </p:txBody>
      </p:sp>
      <p:sp>
        <p:nvSpPr>
          <p:cNvPr id="17" name="TextBox 16"/>
          <p:cNvSpPr txBox="1"/>
          <p:nvPr/>
        </p:nvSpPr>
        <p:spPr>
          <a:xfrm>
            <a:off x="7452360" y="2514600"/>
            <a:ext cx="2011680" cy="548640"/>
          </a:xfrm>
          <a:prstGeom prst="rect">
            <a:avLst/>
          </a:prstGeom>
          <a:noFill/>
        </p:spPr>
        <p:txBody>
          <a:bodyPr wrap="square" anchor="t">
            <a:spAutoFit/>
          </a:bodyPr>
          <a:lstStyle/>
          <a:p>
            <a:pPr algn="ctr">
              <a:lnSpc>
                <a:spcPct val="100000"/>
              </a:lnSpc>
            </a:pPr>
            <a:r>
              <a:rPr sz="1300" b="0">
                <a:solidFill>
                  <a:srgbClr val="556B82"/>
                </a:solidFill>
                <a:latin typeface="Arial"/>
              </a:rPr>
              <a:t>conversions scored</a:t>
            </a:r>
          </a:p>
        </p:txBody>
      </p:sp>
      <p:sp>
        <p:nvSpPr>
          <p:cNvPr id="18" name="Rectangle 17"/>
          <p:cNvSpPr/>
          <p:nvPr/>
        </p:nvSpPr>
        <p:spPr>
          <a:xfrm>
            <a:off x="9692640" y="1645920"/>
            <a:ext cx="2011680" cy="1463040"/>
          </a:xfrm>
          <a:prstGeom prst="rect">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92640" y="1783080"/>
            <a:ext cx="2011680" cy="731520"/>
          </a:xfrm>
          <a:prstGeom prst="rect">
            <a:avLst/>
          </a:prstGeom>
          <a:noFill/>
        </p:spPr>
        <p:txBody>
          <a:bodyPr wrap="square" anchor="t">
            <a:spAutoFit/>
          </a:bodyPr>
          <a:lstStyle/>
          <a:p>
            <a:pPr algn="ctr">
              <a:lnSpc>
                <a:spcPct val="100000"/>
              </a:lnSpc>
            </a:pPr>
            <a:r>
              <a:rPr sz="3400" b="1">
                <a:solidFill>
                  <a:srgbClr val="0070F2"/>
                </a:solidFill>
                <a:latin typeface="Arial"/>
              </a:rPr>
              <a:t>7</a:t>
            </a:r>
          </a:p>
        </p:txBody>
      </p:sp>
      <p:sp>
        <p:nvSpPr>
          <p:cNvPr id="20" name="TextBox 19"/>
          <p:cNvSpPr txBox="1"/>
          <p:nvPr/>
        </p:nvSpPr>
        <p:spPr>
          <a:xfrm>
            <a:off x="9692640" y="2514600"/>
            <a:ext cx="2011680" cy="548640"/>
          </a:xfrm>
          <a:prstGeom prst="rect">
            <a:avLst/>
          </a:prstGeom>
          <a:noFill/>
        </p:spPr>
        <p:txBody>
          <a:bodyPr wrap="square" anchor="t">
            <a:spAutoFit/>
          </a:bodyPr>
          <a:lstStyle/>
          <a:p>
            <a:pPr algn="ctr">
              <a:lnSpc>
                <a:spcPct val="100000"/>
              </a:lnSpc>
            </a:pPr>
            <a:r>
              <a:rPr sz="1300" b="0">
                <a:solidFill>
                  <a:srgbClr val="556B82"/>
                </a:solidFill>
                <a:latin typeface="Arial"/>
              </a:rPr>
              <a:t>quality metrics</a:t>
            </a:r>
          </a:p>
        </p:txBody>
      </p:sp>
      <p:sp>
        <p:nvSpPr>
          <p:cNvPr id="21" name="TextBox 20"/>
          <p:cNvSpPr txBox="1"/>
          <p:nvPr/>
        </p:nvSpPr>
        <p:spPr>
          <a:xfrm>
            <a:off x="731520" y="3566160"/>
            <a:ext cx="10881360" cy="2651760"/>
          </a:xfrm>
          <a:prstGeom prst="rect">
            <a:avLst/>
          </a:prstGeom>
          <a:noFill/>
        </p:spPr>
        <p:txBody>
          <a:bodyPr wrap="square">
            <a:spAutoFit/>
          </a:bodyPr>
          <a:lstStyle/>
          <a:p>
            <a:pPr>
              <a:lnSpc>
                <a:spcPct val="105000"/>
              </a:lnSpc>
              <a:spcAft>
                <a:spcPts val="600"/>
              </a:spcAft>
            </a:pPr>
            <a:r>
              <a:rPr sz="1700" b="1">
                <a:solidFill>
                  <a:srgbClr val="223348"/>
                </a:solidFill>
                <a:latin typeface="Arial"/>
              </a:rPr>
              <a:t>Four competitors:</a:t>
            </a:r>
          </a:p>
          <a:p>
            <a:pPr lvl="1">
              <a:lnSpc>
                <a:spcPct val="105000"/>
              </a:lnSpc>
              <a:spcAft>
                <a:spcPts val="600"/>
              </a:spcAft>
            </a:pPr>
            <a:r>
              <a:rPr sz="1500" b="0">
                <a:solidFill>
                  <a:srgbClr val="223348"/>
                </a:solidFill>
                <a:latin typeface="Arial"/>
              </a:rPr>
              <a:t>Text-only (fast baseline) · Image-only (AI sees every page) · Hybrid (AI gets text + image) · Adaptive (my system)</a:t>
            </a:r>
          </a:p>
          <a:p>
            <a:pPr>
              <a:lnSpc>
                <a:spcPct val="105000"/>
              </a:lnSpc>
              <a:spcAft>
                <a:spcPts val="600"/>
              </a:spcAft>
            </a:pPr>
            <a:r>
              <a:rPr sz="1700" b="1">
                <a:solidFill>
                  <a:srgbClr val="223348"/>
                </a:solidFill>
                <a:latin typeface="Arial"/>
              </a:rPr>
              <a:t>Ground truth written by hand:</a:t>
            </a:r>
          </a:p>
          <a:p>
            <a:pPr lvl="1">
              <a:lnSpc>
                <a:spcPct val="105000"/>
              </a:lnSpc>
              <a:spcAft>
                <a:spcPts val="600"/>
              </a:spcAft>
            </a:pPr>
            <a:r>
              <a:rPr sz="1500" b="0">
                <a:solidFill>
                  <a:srgbClr val="223348"/>
                </a:solidFill>
                <a:latin typeface="Arial"/>
              </a:rPr>
              <a:t>I manually wrote the “perfect” Markdown for all 90 pages — every conversion is scored against that</a:t>
            </a:r>
          </a:p>
          <a:p>
            <a:pPr>
              <a:lnSpc>
                <a:spcPct val="105000"/>
              </a:lnSpc>
              <a:spcAft>
                <a:spcPts val="600"/>
              </a:spcAft>
            </a:pPr>
            <a:r>
              <a:rPr sz="1700" b="1">
                <a:solidFill>
                  <a:srgbClr val="223348"/>
                </a:solidFill>
                <a:latin typeface="Arial"/>
              </a:rPr>
              <a:t>Seven separate metrics instead of one blurry score:</a:t>
            </a:r>
          </a:p>
          <a:p>
            <a:pPr lvl="1">
              <a:lnSpc>
                <a:spcPct val="105000"/>
              </a:lnSpc>
              <a:spcAft>
                <a:spcPts val="600"/>
              </a:spcAft>
            </a:pPr>
            <a:r>
              <a:rPr sz="1500" b="0">
                <a:solidFill>
                  <a:srgbClr val="223348"/>
                </a:solidFill>
                <a:latin typeface="Arial"/>
              </a:rPr>
              <a:t>text accuracy, headings, lists, tables, code blocks, paragraphs, vocabulary — failures can't hide in an average</a:t>
            </a:r>
          </a:p>
        </p:txBody>
      </p:sp>
      <p:sp>
        <p:nvSpPr>
          <p:cNvPr id="22" name="TextBox 21"/>
          <p:cNvSpPr txBox="1"/>
          <p:nvPr/>
        </p:nvSpPr>
        <p:spPr>
          <a:xfrm>
            <a:off x="11475720" y="6473952"/>
            <a:ext cx="548640" cy="274320"/>
          </a:xfrm>
          <a:prstGeom prst="rect">
            <a:avLst/>
          </a:prstGeom>
          <a:noFill/>
        </p:spPr>
        <p:txBody>
          <a:bodyPr wrap="square" anchor="t">
            <a:spAutoFit/>
          </a:bodyPr>
          <a:lstStyle/>
          <a:p>
            <a:pPr algn="r">
              <a:lnSpc>
                <a:spcPct val="100000"/>
              </a:lnSpc>
            </a:pPr>
            <a:r>
              <a:rPr sz="1000" b="0">
                <a:solidFill>
                  <a:srgbClr val="556B82"/>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82296" cy="47548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10881360" cy="640080"/>
          </a:xfrm>
          <a:prstGeom prst="rect">
            <a:avLst/>
          </a:prstGeom>
          <a:noFill/>
        </p:spPr>
        <p:txBody>
          <a:bodyPr wrap="square" anchor="t">
            <a:spAutoFit/>
          </a:bodyPr>
          <a:lstStyle/>
          <a:p>
            <a:pPr algn="l">
              <a:lnSpc>
                <a:spcPct val="100000"/>
              </a:lnSpc>
            </a:pPr>
            <a:r>
              <a:rPr sz="2700" b="1">
                <a:solidFill>
                  <a:srgbClr val="12293F"/>
                </a:solidFill>
                <a:latin typeface="Arial"/>
              </a:rPr>
              <a:t>Results: quality</a:t>
            </a:r>
          </a:p>
        </p:txBody>
      </p:sp>
      <p:sp>
        <p:nvSpPr>
          <p:cNvPr id="4" name="TextBox 3"/>
          <p:cNvSpPr txBox="1"/>
          <p:nvPr/>
        </p:nvSpPr>
        <p:spPr>
          <a:xfrm>
            <a:off x="731520" y="868680"/>
            <a:ext cx="10881360" cy="365760"/>
          </a:xfrm>
          <a:prstGeom prst="rect">
            <a:avLst/>
          </a:prstGeom>
          <a:noFill/>
        </p:spPr>
        <p:txBody>
          <a:bodyPr wrap="square" anchor="t">
            <a:spAutoFit/>
          </a:bodyPr>
          <a:lstStyle/>
          <a:p>
            <a:pPr algn="l">
              <a:lnSpc>
                <a:spcPct val="100000"/>
              </a:lnSpc>
            </a:pPr>
            <a:r>
              <a:rPr sz="1300" b="0">
                <a:solidFill>
                  <a:srgbClr val="556B82"/>
                </a:solidFill>
                <a:latin typeface="Arial"/>
              </a:rPr>
              <a:t>Adaptive matches the best — and wins where structure matters</a:t>
            </a:r>
          </a:p>
        </p:txBody>
      </p:sp>
      <p:sp>
        <p:nvSpPr>
          <p:cNvPr id="5" name="Rectangle 4"/>
          <p:cNvSpPr/>
          <p:nvPr/>
        </p:nvSpPr>
        <p:spPr>
          <a:xfrm>
            <a:off x="502920" y="1234440"/>
            <a:ext cx="11183112" cy="20320"/>
          </a:xfrm>
          <a:prstGeom prst="rect">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erformance.png"/>
          <p:cNvPicPr>
            <a:picLocks noChangeAspect="1"/>
          </p:cNvPicPr>
          <p:nvPr/>
        </p:nvPicPr>
        <p:blipFill>
          <a:blip r:embed="rId2"/>
          <a:stretch>
            <a:fillRect/>
          </a:stretch>
        </p:blipFill>
        <p:spPr>
          <a:xfrm>
            <a:off x="640080" y="1554480"/>
            <a:ext cx="8595360" cy="3884929"/>
          </a:xfrm>
          <a:prstGeom prst="rect">
            <a:avLst/>
          </a:prstGeom>
        </p:spPr>
      </p:pic>
      <p:sp>
        <p:nvSpPr>
          <p:cNvPr id="7" name="TextBox 6"/>
          <p:cNvSpPr txBox="1"/>
          <p:nvPr/>
        </p:nvSpPr>
        <p:spPr>
          <a:xfrm>
            <a:off x="9418320" y="1737360"/>
            <a:ext cx="2514600" cy="4389120"/>
          </a:xfrm>
          <a:prstGeom prst="rect">
            <a:avLst/>
          </a:prstGeom>
          <a:noFill/>
        </p:spPr>
        <p:txBody>
          <a:bodyPr wrap="square">
            <a:spAutoFit/>
          </a:bodyPr>
          <a:lstStyle/>
          <a:p>
            <a:pPr>
              <a:lnSpc>
                <a:spcPct val="105000"/>
              </a:lnSpc>
              <a:spcAft>
                <a:spcPts val="1000"/>
              </a:spcAft>
            </a:pPr>
            <a:r>
              <a:rPr sz="1400" b="1">
                <a:solidFill>
                  <a:srgbClr val="223348"/>
                </a:solidFill>
                <a:latin typeface="Arial"/>
              </a:rPr>
              <a:t>Adaptive (green) beats both pure-AI strategies on every metric</a:t>
            </a:r>
          </a:p>
          <a:p>
            <a:pPr>
              <a:lnSpc>
                <a:spcPct val="105000"/>
              </a:lnSpc>
              <a:spcAft>
                <a:spcPts val="1000"/>
              </a:spcAft>
            </a:pPr>
            <a:r>
              <a:rPr sz="1400" b="0">
                <a:solidFill>
                  <a:srgbClr val="223348"/>
                </a:solidFill>
                <a:latin typeface="Arial"/>
              </a:rPr>
              <a:t>Neck-and-neck with the text baseline on prose</a:t>
            </a:r>
          </a:p>
          <a:p>
            <a:pPr>
              <a:lnSpc>
                <a:spcPct val="105000"/>
              </a:lnSpc>
              <a:spcAft>
                <a:spcPts val="1000"/>
              </a:spcAft>
            </a:pPr>
            <a:r>
              <a:rPr sz="1400" b="1">
                <a:solidFill>
                  <a:srgbClr val="188A4E"/>
                </a:solidFill>
                <a:latin typeface="Arial"/>
              </a:rPr>
              <a:t>Clear win on tables: 0.98 vs 0.93</a:t>
            </a:r>
          </a:p>
          <a:p>
            <a:pPr>
              <a:lnSpc>
                <a:spcPct val="105000"/>
              </a:lnSpc>
              <a:spcAft>
                <a:spcPts val="1000"/>
              </a:spcAft>
            </a:pPr>
            <a:r>
              <a:rPr sz="1400" b="0">
                <a:solidFill>
                  <a:srgbClr val="556B82"/>
                </a:solidFill>
                <a:latin typeface="Arial"/>
              </a:rPr>
              <a:t>Hybrid's weak spot: headings (0.52)</a:t>
            </a:r>
          </a:p>
        </p:txBody>
      </p:sp>
      <p:sp>
        <p:nvSpPr>
          <p:cNvPr id="8" name="TextBox 7"/>
          <p:cNvSpPr txBox="1"/>
          <p:nvPr/>
        </p:nvSpPr>
        <p:spPr>
          <a:xfrm>
            <a:off x="11475720" y="6473952"/>
            <a:ext cx="548640" cy="274320"/>
          </a:xfrm>
          <a:prstGeom prst="rect">
            <a:avLst/>
          </a:prstGeom>
          <a:noFill/>
        </p:spPr>
        <p:txBody>
          <a:bodyPr wrap="square" anchor="t">
            <a:spAutoFit/>
          </a:bodyPr>
          <a:lstStyle/>
          <a:p>
            <a:pPr algn="r">
              <a:lnSpc>
                <a:spcPct val="100000"/>
              </a:lnSpc>
            </a:pPr>
            <a:r>
              <a:rPr sz="1000" b="0">
                <a:solidFill>
                  <a:srgbClr val="556B82"/>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82296" cy="47548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10881360" cy="640080"/>
          </a:xfrm>
          <a:prstGeom prst="rect">
            <a:avLst/>
          </a:prstGeom>
          <a:noFill/>
        </p:spPr>
        <p:txBody>
          <a:bodyPr wrap="square" anchor="t">
            <a:spAutoFit/>
          </a:bodyPr>
          <a:lstStyle/>
          <a:p>
            <a:pPr algn="l">
              <a:lnSpc>
                <a:spcPct val="100000"/>
              </a:lnSpc>
            </a:pPr>
            <a:r>
              <a:rPr sz="2700" b="1">
                <a:solidFill>
                  <a:srgbClr val="12293F"/>
                </a:solidFill>
                <a:latin typeface="Arial"/>
              </a:rPr>
              <a:t>Results: cost</a:t>
            </a:r>
          </a:p>
        </p:txBody>
      </p:sp>
      <p:sp>
        <p:nvSpPr>
          <p:cNvPr id="4" name="TextBox 3"/>
          <p:cNvSpPr txBox="1"/>
          <p:nvPr/>
        </p:nvSpPr>
        <p:spPr>
          <a:xfrm>
            <a:off x="731520" y="868680"/>
            <a:ext cx="10881360" cy="365760"/>
          </a:xfrm>
          <a:prstGeom prst="rect">
            <a:avLst/>
          </a:prstGeom>
          <a:noFill/>
        </p:spPr>
        <p:txBody>
          <a:bodyPr wrap="square" anchor="t">
            <a:spAutoFit/>
          </a:bodyPr>
          <a:lstStyle/>
          <a:p>
            <a:pPr algn="l">
              <a:lnSpc>
                <a:spcPct val="100000"/>
              </a:lnSpc>
            </a:pPr>
            <a:r>
              <a:rPr sz="1300" b="0">
                <a:solidFill>
                  <a:srgbClr val="556B82"/>
                </a:solidFill>
                <a:latin typeface="Arial"/>
              </a:rPr>
              <a:t>Same quality for a quarter of the compute</a:t>
            </a:r>
          </a:p>
        </p:txBody>
      </p:sp>
      <p:sp>
        <p:nvSpPr>
          <p:cNvPr id="5" name="Rectangle 4"/>
          <p:cNvSpPr/>
          <p:nvPr/>
        </p:nvSpPr>
        <p:spPr>
          <a:xfrm>
            <a:off x="502920" y="1234440"/>
            <a:ext cx="11183112" cy="20320"/>
          </a:xfrm>
          <a:prstGeom prst="rect">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efficiency.png"/>
          <p:cNvPicPr>
            <a:picLocks noChangeAspect="1"/>
          </p:cNvPicPr>
          <p:nvPr/>
        </p:nvPicPr>
        <p:blipFill>
          <a:blip r:embed="rId2"/>
          <a:stretch>
            <a:fillRect/>
          </a:stretch>
        </p:blipFill>
        <p:spPr>
          <a:xfrm>
            <a:off x="685800" y="1600200"/>
            <a:ext cx="7243495" cy="4480560"/>
          </a:xfrm>
          <a:prstGeom prst="rect">
            <a:avLst/>
          </a:prstGeom>
        </p:spPr>
      </p:pic>
      <p:sp>
        <p:nvSpPr>
          <p:cNvPr id="7" name="TextBox 6"/>
          <p:cNvSpPr txBox="1"/>
          <p:nvPr/>
        </p:nvSpPr>
        <p:spPr>
          <a:xfrm>
            <a:off x="7498079" y="1828800"/>
            <a:ext cx="4206240" cy="4206240"/>
          </a:xfrm>
          <a:prstGeom prst="rect">
            <a:avLst/>
          </a:prstGeom>
          <a:noFill/>
        </p:spPr>
        <p:txBody>
          <a:bodyPr wrap="square">
            <a:spAutoFit/>
          </a:bodyPr>
          <a:lstStyle/>
          <a:p>
            <a:pPr>
              <a:lnSpc>
                <a:spcPct val="105000"/>
              </a:lnSpc>
              <a:spcAft>
                <a:spcPts val="1000"/>
              </a:spcAft>
            </a:pPr>
            <a:r>
              <a:rPr sz="1600" b="1">
                <a:solidFill>
                  <a:srgbClr val="223348"/>
                </a:solidFill>
                <a:latin typeface="Arial"/>
              </a:rPr>
              <a:t>Adaptive skips the AI model on 67 of 90 pages</a:t>
            </a:r>
          </a:p>
          <a:p>
            <a:pPr lvl="1">
              <a:lnSpc>
                <a:spcPct val="105000"/>
              </a:lnSpc>
              <a:spcAft>
                <a:spcPts val="1000"/>
              </a:spcAft>
            </a:pPr>
            <a:r>
              <a:rPr sz="1400" b="0">
                <a:solidFill>
                  <a:srgbClr val="223348"/>
                </a:solidFill>
                <a:latin typeface="Arial"/>
              </a:rPr>
              <a:t>Only 23 pages actually need vision</a:t>
            </a:r>
          </a:p>
          <a:p>
            <a:pPr>
              <a:lnSpc>
                <a:spcPct val="105000"/>
              </a:lnSpc>
              <a:spcAft>
                <a:spcPts val="1000"/>
              </a:spcAft>
            </a:pPr>
            <a:r>
              <a:rPr sz="1600" b="1">
                <a:solidFill>
                  <a:srgbClr val="188A4E"/>
                </a:solidFill>
                <a:latin typeface="Arial"/>
              </a:rPr>
              <a:t>75% fewer tokens than image-only</a:t>
            </a:r>
          </a:p>
          <a:p>
            <a:pPr>
              <a:lnSpc>
                <a:spcPct val="105000"/>
              </a:lnSpc>
              <a:spcAft>
                <a:spcPts val="1000"/>
              </a:spcAft>
            </a:pPr>
            <a:r>
              <a:rPr sz="1600" b="0">
                <a:solidFill>
                  <a:srgbClr val="223348"/>
                </a:solidFill>
                <a:latin typeface="Arial"/>
              </a:rPr>
              <a:t>≈ 4.5× faster than the pure-AI strategies</a:t>
            </a:r>
          </a:p>
          <a:p>
            <a:pPr>
              <a:lnSpc>
                <a:spcPct val="105000"/>
              </a:lnSpc>
              <a:spcAft>
                <a:spcPts val="1000"/>
              </a:spcAft>
            </a:pPr>
            <a:r>
              <a:rPr sz="1600" b="0">
                <a:solidFill>
                  <a:srgbClr val="223348"/>
                </a:solidFill>
                <a:latin typeface="Arial"/>
              </a:rPr>
              <a:t>Scales with document size: a 300-page manual costs ~1.1M tokens with image-only, ~280K with adaptive</a:t>
            </a:r>
          </a:p>
        </p:txBody>
      </p:sp>
      <p:sp>
        <p:nvSpPr>
          <p:cNvPr id="8" name="TextBox 7"/>
          <p:cNvSpPr txBox="1"/>
          <p:nvPr/>
        </p:nvSpPr>
        <p:spPr>
          <a:xfrm>
            <a:off x="11475720" y="6473952"/>
            <a:ext cx="548640" cy="274320"/>
          </a:xfrm>
          <a:prstGeom prst="rect">
            <a:avLst/>
          </a:prstGeom>
          <a:noFill/>
        </p:spPr>
        <p:txBody>
          <a:bodyPr wrap="square" anchor="t">
            <a:spAutoFit/>
          </a:bodyPr>
          <a:lstStyle/>
          <a:p>
            <a:pPr algn="r">
              <a:lnSpc>
                <a:spcPct val="100000"/>
              </a:lnSpc>
            </a:pPr>
            <a:r>
              <a:rPr sz="1000" b="0">
                <a:solidFill>
                  <a:srgbClr val="556B82"/>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82296" cy="47548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10881360" cy="640080"/>
          </a:xfrm>
          <a:prstGeom prst="rect">
            <a:avLst/>
          </a:prstGeom>
          <a:noFill/>
        </p:spPr>
        <p:txBody>
          <a:bodyPr wrap="square" anchor="t">
            <a:spAutoFit/>
          </a:bodyPr>
          <a:lstStyle/>
          <a:p>
            <a:pPr algn="l">
              <a:lnSpc>
                <a:spcPct val="100000"/>
              </a:lnSpc>
            </a:pPr>
            <a:r>
              <a:rPr sz="2700" b="1">
                <a:solidFill>
                  <a:srgbClr val="12293F"/>
                </a:solidFill>
                <a:latin typeface="Arial"/>
              </a:rPr>
              <a:t>The plot twist: my evaluation was grading the wrong thing</a:t>
            </a:r>
          </a:p>
        </p:txBody>
      </p:sp>
      <p:sp>
        <p:nvSpPr>
          <p:cNvPr id="4" name="TextBox 3"/>
          <p:cNvSpPr txBox="1"/>
          <p:nvPr/>
        </p:nvSpPr>
        <p:spPr>
          <a:xfrm>
            <a:off x="731520" y="868680"/>
            <a:ext cx="10881360" cy="365760"/>
          </a:xfrm>
          <a:prstGeom prst="rect">
            <a:avLst/>
          </a:prstGeom>
          <a:noFill/>
        </p:spPr>
        <p:txBody>
          <a:bodyPr wrap="square" anchor="t">
            <a:spAutoFit/>
          </a:bodyPr>
          <a:lstStyle/>
          <a:p>
            <a:pPr algn="l">
              <a:lnSpc>
                <a:spcPct val="100000"/>
              </a:lnSpc>
            </a:pPr>
            <a:r>
              <a:rPr sz="1300" b="0">
                <a:solidFill>
                  <a:srgbClr val="556B82"/>
                </a:solidFill>
                <a:latin typeface="Arial"/>
              </a:rPr>
              <a:t>The most valuable lesson of the whole project</a:t>
            </a:r>
          </a:p>
        </p:txBody>
      </p:sp>
      <p:sp>
        <p:nvSpPr>
          <p:cNvPr id="5" name="Rectangle 4"/>
          <p:cNvSpPr/>
          <p:nvPr/>
        </p:nvSpPr>
        <p:spPr>
          <a:xfrm>
            <a:off x="502920" y="1234440"/>
            <a:ext cx="11183112" cy="20320"/>
          </a:xfrm>
          <a:prstGeom prst="rect">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554480"/>
            <a:ext cx="10881360" cy="4572000"/>
          </a:xfrm>
          <a:prstGeom prst="rect">
            <a:avLst/>
          </a:prstGeom>
          <a:noFill/>
        </p:spPr>
        <p:txBody>
          <a:bodyPr wrap="square">
            <a:spAutoFit/>
          </a:bodyPr>
          <a:lstStyle/>
          <a:p>
            <a:pPr>
              <a:lnSpc>
                <a:spcPct val="105000"/>
              </a:lnSpc>
              <a:spcAft>
                <a:spcPts val="600"/>
              </a:spcAft>
            </a:pPr>
            <a:r>
              <a:rPr sz="1700" b="1">
                <a:solidFill>
                  <a:srgbClr val="223348"/>
                </a:solidFill>
                <a:latin typeface="Arial"/>
              </a:rPr>
              <a:t>For months, the results told a different story:</a:t>
            </a:r>
          </a:p>
          <a:p>
            <a:pPr lvl="1">
              <a:lnSpc>
                <a:spcPct val="105000"/>
              </a:lnSpc>
              <a:spcAft>
                <a:spcPts val="600"/>
              </a:spcAft>
            </a:pPr>
            <a:r>
              <a:rPr sz="1500" b="0">
                <a:solidFill>
                  <a:srgbClr val="223348"/>
                </a:solidFill>
                <a:latin typeface="Arial"/>
              </a:rPr>
              <a:t>“AI strategies collapse on code blocks (0.25) and paragraphs (0.16) — vision models can't transcribe”</a:t>
            </a:r>
          </a:p>
          <a:p>
            <a:pPr>
              <a:lnSpc>
                <a:spcPct val="105000"/>
              </a:lnSpc>
              <a:spcAft>
                <a:spcPts val="600"/>
              </a:spcAft>
            </a:pPr>
            <a:r>
              <a:rPr sz="1700" b="1">
                <a:solidFill>
                  <a:srgbClr val="0070F2"/>
                </a:solidFill>
                <a:latin typeface="Arial"/>
              </a:rPr>
              <a:t>Then I found the bug — in the measuring stick, not the system:</a:t>
            </a:r>
          </a:p>
          <a:p>
            <a:pPr lvl="1">
              <a:lnSpc>
                <a:spcPct val="105000"/>
              </a:lnSpc>
              <a:spcAft>
                <a:spcPts val="600"/>
              </a:spcAft>
            </a:pPr>
            <a:r>
              <a:rPr sz="1500" b="0">
                <a:solidFill>
                  <a:srgbClr val="223348"/>
                </a:solidFill>
                <a:latin typeface="Arial"/>
              </a:rPr>
              <a:t>The evaluation scored the RAW model output — before my 49 clean-up passes ever ran</a:t>
            </a:r>
          </a:p>
          <a:p>
            <a:pPr lvl="1">
              <a:lnSpc>
                <a:spcPct val="105000"/>
              </a:lnSpc>
              <a:spcAft>
                <a:spcPts val="600"/>
              </a:spcAft>
            </a:pPr>
            <a:r>
              <a:rPr sz="1500" b="0">
                <a:solidFill>
                  <a:srgbClr val="223348"/>
                </a:solidFill>
                <a:latin typeface="Arial"/>
              </a:rPr>
              <a:t>Real users get the cleaned output; the benchmark graded a draft nobody ever sees</a:t>
            </a:r>
          </a:p>
          <a:p>
            <a:pPr>
              <a:lnSpc>
                <a:spcPct val="105000"/>
              </a:lnSpc>
              <a:spcAft>
                <a:spcPts val="600"/>
              </a:spcAft>
            </a:pPr>
            <a:r>
              <a:rPr sz="1700" b="1">
                <a:solidFill>
                  <a:srgbClr val="188A4E"/>
                </a:solidFill>
                <a:latin typeface="Arial"/>
              </a:rPr>
              <a:t>After fixing the evaluation:</a:t>
            </a:r>
          </a:p>
          <a:p>
            <a:pPr lvl="1">
              <a:lnSpc>
                <a:spcPct val="105000"/>
              </a:lnSpc>
              <a:spcAft>
                <a:spcPts val="600"/>
              </a:spcAft>
            </a:pPr>
            <a:r>
              <a:rPr sz="1500" b="0">
                <a:solidFill>
                  <a:srgbClr val="223348"/>
                </a:solidFill>
                <a:latin typeface="Arial"/>
              </a:rPr>
              <a:t>Code blocks: 0.25 → 0.97   ·   Paragraphs: 0.16 → 0.78 — the “collapse” never existed</a:t>
            </a:r>
          </a:p>
          <a:p>
            <a:pPr>
              <a:lnSpc>
                <a:spcPct val="105000"/>
              </a:lnSpc>
              <a:spcAft>
                <a:spcPts val="600"/>
              </a:spcAft>
            </a:pPr>
            <a:r>
              <a:rPr sz="1700" b="1">
                <a:solidFill>
                  <a:srgbClr val="223348"/>
                </a:solidFill>
                <a:latin typeface="Arial"/>
              </a:rPr>
              <a:t>Bonus finding: a bigger AI model (7B → 35B parameters) barely moved the results</a:t>
            </a:r>
          </a:p>
          <a:p>
            <a:pPr lvl="1">
              <a:lnSpc>
                <a:spcPct val="105000"/>
              </a:lnSpc>
              <a:spcAft>
                <a:spcPts val="600"/>
              </a:spcAft>
            </a:pPr>
            <a:r>
              <a:rPr sz="1500" b="0">
                <a:solidFill>
                  <a:srgbClr val="223348"/>
                </a:solidFill>
                <a:latin typeface="Arial"/>
              </a:rPr>
              <a:t>Better headings, slightly worse tables, everything else flat — model size was not the bottleneck</a:t>
            </a:r>
          </a:p>
        </p:txBody>
      </p:sp>
      <p:sp>
        <p:nvSpPr>
          <p:cNvPr id="7" name="TextBox 6"/>
          <p:cNvSpPr txBox="1"/>
          <p:nvPr/>
        </p:nvSpPr>
        <p:spPr>
          <a:xfrm>
            <a:off x="11475720" y="6473952"/>
            <a:ext cx="548640" cy="274320"/>
          </a:xfrm>
          <a:prstGeom prst="rect">
            <a:avLst/>
          </a:prstGeom>
          <a:noFill/>
        </p:spPr>
        <p:txBody>
          <a:bodyPr wrap="square" anchor="t">
            <a:spAutoFit/>
          </a:bodyPr>
          <a:lstStyle/>
          <a:p>
            <a:pPr algn="r">
              <a:lnSpc>
                <a:spcPct val="100000"/>
              </a:lnSpc>
            </a:pPr>
            <a:r>
              <a:rPr sz="1000" b="0">
                <a:solidFill>
                  <a:srgbClr val="556B82"/>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2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731520"/>
          </a:xfrm>
          <a:prstGeom prst="rect">
            <a:avLst/>
          </a:prstGeom>
          <a:noFill/>
        </p:spPr>
        <p:txBody>
          <a:bodyPr wrap="square" anchor="t">
            <a:spAutoFit/>
          </a:bodyPr>
          <a:lstStyle/>
          <a:p>
            <a:pPr algn="l">
              <a:lnSpc>
                <a:spcPct val="100000"/>
              </a:lnSpc>
            </a:pPr>
            <a:r>
              <a:rPr sz="3000" b="1">
                <a:solidFill>
                  <a:srgbClr val="FFFFFF"/>
                </a:solidFill>
                <a:latin typeface="Arial"/>
              </a:rPr>
              <a:t>Three things to remember</a:t>
            </a:r>
          </a:p>
        </p:txBody>
      </p:sp>
      <p:sp>
        <p:nvSpPr>
          <p:cNvPr id="4" name="Rectangle 3"/>
          <p:cNvSpPr/>
          <p:nvPr/>
        </p:nvSpPr>
        <p:spPr>
          <a:xfrm>
            <a:off x="822960" y="1417320"/>
            <a:ext cx="2011680" cy="3175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920240"/>
            <a:ext cx="731520" cy="731520"/>
          </a:xfrm>
          <a:prstGeom prst="rect">
            <a:avLst/>
          </a:prstGeom>
          <a:noFill/>
        </p:spPr>
        <p:txBody>
          <a:bodyPr wrap="square" anchor="t">
            <a:spAutoFit/>
          </a:bodyPr>
          <a:lstStyle/>
          <a:p>
            <a:pPr algn="l">
              <a:lnSpc>
                <a:spcPct val="100000"/>
              </a:lnSpc>
            </a:pPr>
            <a:r>
              <a:rPr sz="3400" b="1">
                <a:solidFill>
                  <a:srgbClr val="F0AB00"/>
                </a:solidFill>
                <a:latin typeface="Arial"/>
              </a:rPr>
              <a:t>1</a:t>
            </a:r>
          </a:p>
        </p:txBody>
      </p:sp>
      <p:sp>
        <p:nvSpPr>
          <p:cNvPr id="6" name="TextBox 5"/>
          <p:cNvSpPr txBox="1"/>
          <p:nvPr/>
        </p:nvSpPr>
        <p:spPr>
          <a:xfrm>
            <a:off x="1737360" y="1938528"/>
            <a:ext cx="9601200" cy="457200"/>
          </a:xfrm>
          <a:prstGeom prst="rect">
            <a:avLst/>
          </a:prstGeom>
          <a:noFill/>
        </p:spPr>
        <p:txBody>
          <a:bodyPr wrap="square" anchor="t">
            <a:spAutoFit/>
          </a:bodyPr>
          <a:lstStyle/>
          <a:p>
            <a:pPr algn="l">
              <a:lnSpc>
                <a:spcPct val="100000"/>
              </a:lnSpc>
            </a:pPr>
            <a:r>
              <a:rPr sz="2000" b="1">
                <a:solidFill>
                  <a:srgbClr val="FFFFFF"/>
                </a:solidFill>
                <a:latin typeface="Arial"/>
              </a:rPr>
              <a:t>Route, don't brute-force</a:t>
            </a:r>
          </a:p>
        </p:txBody>
      </p:sp>
      <p:sp>
        <p:nvSpPr>
          <p:cNvPr id="7" name="TextBox 6"/>
          <p:cNvSpPr txBox="1"/>
          <p:nvPr/>
        </p:nvSpPr>
        <p:spPr>
          <a:xfrm>
            <a:off x="1737360" y="2395728"/>
            <a:ext cx="9601200" cy="822960"/>
          </a:xfrm>
          <a:prstGeom prst="rect">
            <a:avLst/>
          </a:prstGeom>
          <a:noFill/>
        </p:spPr>
        <p:txBody>
          <a:bodyPr wrap="square" anchor="t">
            <a:spAutoFit/>
          </a:bodyPr>
          <a:lstStyle/>
          <a:p>
            <a:pPr algn="l">
              <a:lnSpc>
                <a:spcPct val="110000"/>
              </a:lnSpc>
            </a:pPr>
            <a:r>
              <a:rPr sz="1500" b="0">
                <a:solidFill>
                  <a:srgbClr val="B8C9DC"/>
                </a:solidFill>
                <a:latin typeface="Arial"/>
              </a:rPr>
              <a:t>Looking at each page first and picking the right tool beats applying one method everywhere — same quality, 75% less compute.</a:t>
            </a:r>
          </a:p>
        </p:txBody>
      </p:sp>
      <p:sp>
        <p:nvSpPr>
          <p:cNvPr id="8" name="TextBox 7"/>
          <p:cNvSpPr txBox="1"/>
          <p:nvPr/>
        </p:nvSpPr>
        <p:spPr>
          <a:xfrm>
            <a:off x="868680" y="3337560"/>
            <a:ext cx="731520" cy="731520"/>
          </a:xfrm>
          <a:prstGeom prst="rect">
            <a:avLst/>
          </a:prstGeom>
          <a:noFill/>
        </p:spPr>
        <p:txBody>
          <a:bodyPr wrap="square" anchor="t">
            <a:spAutoFit/>
          </a:bodyPr>
          <a:lstStyle/>
          <a:p>
            <a:pPr algn="l">
              <a:lnSpc>
                <a:spcPct val="100000"/>
              </a:lnSpc>
            </a:pPr>
            <a:r>
              <a:rPr sz="3400" b="1">
                <a:solidFill>
                  <a:srgbClr val="F0AB00"/>
                </a:solidFill>
                <a:latin typeface="Arial"/>
              </a:rPr>
              <a:t>2</a:t>
            </a:r>
          </a:p>
        </p:txBody>
      </p:sp>
      <p:sp>
        <p:nvSpPr>
          <p:cNvPr id="9" name="TextBox 8"/>
          <p:cNvSpPr txBox="1"/>
          <p:nvPr/>
        </p:nvSpPr>
        <p:spPr>
          <a:xfrm>
            <a:off x="1737360" y="3355848"/>
            <a:ext cx="9601200" cy="457200"/>
          </a:xfrm>
          <a:prstGeom prst="rect">
            <a:avLst/>
          </a:prstGeom>
          <a:noFill/>
        </p:spPr>
        <p:txBody>
          <a:bodyPr wrap="square" anchor="t">
            <a:spAutoFit/>
          </a:bodyPr>
          <a:lstStyle/>
          <a:p>
            <a:pPr algn="l">
              <a:lnSpc>
                <a:spcPct val="100000"/>
              </a:lnSpc>
            </a:pPr>
            <a:r>
              <a:rPr sz="2000" b="1">
                <a:solidFill>
                  <a:srgbClr val="FFFFFF"/>
                </a:solidFill>
                <a:latin typeface="Arial"/>
              </a:rPr>
              <a:t>Local AI is enough</a:t>
            </a:r>
          </a:p>
        </p:txBody>
      </p:sp>
      <p:sp>
        <p:nvSpPr>
          <p:cNvPr id="10" name="TextBox 9"/>
          <p:cNvSpPr txBox="1"/>
          <p:nvPr/>
        </p:nvSpPr>
        <p:spPr>
          <a:xfrm>
            <a:off x="1737360" y="3813048"/>
            <a:ext cx="9601200" cy="822960"/>
          </a:xfrm>
          <a:prstGeom prst="rect">
            <a:avLst/>
          </a:prstGeom>
          <a:noFill/>
        </p:spPr>
        <p:txBody>
          <a:bodyPr wrap="square" anchor="t">
            <a:spAutoFit/>
          </a:bodyPr>
          <a:lstStyle/>
          <a:p>
            <a:pPr algn="l">
              <a:lnSpc>
                <a:spcPct val="110000"/>
              </a:lnSpc>
            </a:pPr>
            <a:r>
              <a:rPr sz="1500" b="0">
                <a:solidFill>
                  <a:srgbClr val="B8C9DC"/>
                </a:solidFill>
                <a:latin typeface="Arial"/>
              </a:rPr>
              <a:t>A self-hosted open model on our own hardware handled this. No cloud APIs, no data leaving the machine, no per-call bill.</a:t>
            </a:r>
          </a:p>
        </p:txBody>
      </p:sp>
      <p:sp>
        <p:nvSpPr>
          <p:cNvPr id="11" name="TextBox 10"/>
          <p:cNvSpPr txBox="1"/>
          <p:nvPr/>
        </p:nvSpPr>
        <p:spPr>
          <a:xfrm>
            <a:off x="868680" y="4754880"/>
            <a:ext cx="731520" cy="731520"/>
          </a:xfrm>
          <a:prstGeom prst="rect">
            <a:avLst/>
          </a:prstGeom>
          <a:noFill/>
        </p:spPr>
        <p:txBody>
          <a:bodyPr wrap="square" anchor="t">
            <a:spAutoFit/>
          </a:bodyPr>
          <a:lstStyle/>
          <a:p>
            <a:pPr algn="l">
              <a:lnSpc>
                <a:spcPct val="100000"/>
              </a:lnSpc>
            </a:pPr>
            <a:r>
              <a:rPr sz="3400" b="1">
                <a:solidFill>
                  <a:srgbClr val="F0AB00"/>
                </a:solidFill>
                <a:latin typeface="Arial"/>
              </a:rPr>
              <a:t>3</a:t>
            </a:r>
          </a:p>
        </p:txBody>
      </p:sp>
      <p:sp>
        <p:nvSpPr>
          <p:cNvPr id="12" name="TextBox 11"/>
          <p:cNvSpPr txBox="1"/>
          <p:nvPr/>
        </p:nvSpPr>
        <p:spPr>
          <a:xfrm>
            <a:off x="1737360" y="4773168"/>
            <a:ext cx="9601200" cy="457200"/>
          </a:xfrm>
          <a:prstGeom prst="rect">
            <a:avLst/>
          </a:prstGeom>
          <a:noFill/>
        </p:spPr>
        <p:txBody>
          <a:bodyPr wrap="square" anchor="t">
            <a:spAutoFit/>
          </a:bodyPr>
          <a:lstStyle/>
          <a:p>
            <a:pPr algn="l">
              <a:lnSpc>
                <a:spcPct val="100000"/>
              </a:lnSpc>
            </a:pPr>
            <a:r>
              <a:rPr sz="2000" b="1">
                <a:solidFill>
                  <a:srgbClr val="FFFFFF"/>
                </a:solidFill>
                <a:latin typeface="Arial"/>
              </a:rPr>
              <a:t>Grade the product, not the draft</a:t>
            </a:r>
          </a:p>
        </p:txBody>
      </p:sp>
      <p:sp>
        <p:nvSpPr>
          <p:cNvPr id="13" name="TextBox 12"/>
          <p:cNvSpPr txBox="1"/>
          <p:nvPr/>
        </p:nvSpPr>
        <p:spPr>
          <a:xfrm>
            <a:off x="1737360" y="5230368"/>
            <a:ext cx="9601200" cy="822960"/>
          </a:xfrm>
          <a:prstGeom prst="rect">
            <a:avLst/>
          </a:prstGeom>
          <a:noFill/>
        </p:spPr>
        <p:txBody>
          <a:bodyPr wrap="square" anchor="t">
            <a:spAutoFit/>
          </a:bodyPr>
          <a:lstStyle/>
          <a:p>
            <a:pPr algn="l">
              <a:lnSpc>
                <a:spcPct val="110000"/>
              </a:lnSpc>
            </a:pPr>
            <a:r>
              <a:rPr sz="1500" b="0">
                <a:solidFill>
                  <a:srgbClr val="B8C9DC"/>
                </a:solidFill>
                <a:latin typeface="Arial"/>
              </a:rPr>
              <a:t>My biggest 'failure' was a measurement bug. Evaluate what users actually receive — end to end — or your numbers will lie to you.</a:t>
            </a:r>
          </a:p>
        </p:txBody>
      </p:sp>
      <p:sp>
        <p:nvSpPr>
          <p:cNvPr id="14" name="TextBox 13"/>
          <p:cNvSpPr txBox="1"/>
          <p:nvPr/>
        </p:nvSpPr>
        <p:spPr>
          <a:xfrm>
            <a:off x="822960" y="6217920"/>
            <a:ext cx="10515600" cy="457200"/>
          </a:xfrm>
          <a:prstGeom prst="rect">
            <a:avLst/>
          </a:prstGeom>
          <a:noFill/>
        </p:spPr>
        <p:txBody>
          <a:bodyPr wrap="square" anchor="t">
            <a:spAutoFit/>
          </a:bodyPr>
          <a:lstStyle/>
          <a:p>
            <a:pPr algn="l">
              <a:lnSpc>
                <a:spcPct val="100000"/>
              </a:lnSpc>
            </a:pPr>
            <a:r>
              <a:rPr sz="1600" b="0">
                <a:solidFill>
                  <a:srgbClr val="F0AB00"/>
                </a:solidFill>
                <a:latin typeface="Arial"/>
              </a:rPr>
              <a:t>Thanks! Questions welcome — technical or not.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